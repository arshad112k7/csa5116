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7" d="100"/>
          <a:sy n="37" d="100"/>
        </p:scale>
        <p:origin x="40" y="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0" i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0" i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07807" y="4009040"/>
            <a:ext cx="7774940" cy="0"/>
          </a:xfrm>
          <a:custGeom>
            <a:avLst/>
            <a:gdLst/>
            <a:ahLst/>
            <a:cxnLst/>
            <a:rect l="l" t="t" r="r" b="b"/>
            <a:pathLst>
              <a:path w="7774940">
                <a:moveTo>
                  <a:pt x="0" y="0"/>
                </a:moveTo>
                <a:lnTo>
                  <a:pt x="7774632" y="0"/>
                </a:lnTo>
              </a:path>
            </a:pathLst>
          </a:custGeom>
          <a:ln w="23559">
            <a:solidFill>
              <a:srgbClr val="74080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884485" y="4009040"/>
            <a:ext cx="7774940" cy="0"/>
          </a:xfrm>
          <a:custGeom>
            <a:avLst/>
            <a:gdLst/>
            <a:ahLst/>
            <a:cxnLst/>
            <a:rect l="l" t="t" r="r" b="b"/>
            <a:pathLst>
              <a:path w="7774940">
                <a:moveTo>
                  <a:pt x="0" y="0"/>
                </a:moveTo>
                <a:lnTo>
                  <a:pt x="7774632" y="0"/>
                </a:lnTo>
              </a:path>
            </a:pathLst>
          </a:custGeom>
          <a:ln w="23559">
            <a:solidFill>
              <a:srgbClr val="74080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20911" y="1833713"/>
            <a:ext cx="18125440" cy="0"/>
          </a:xfrm>
          <a:custGeom>
            <a:avLst/>
            <a:gdLst/>
            <a:ahLst/>
            <a:cxnLst/>
            <a:rect l="l" t="t" r="r" b="b"/>
            <a:pathLst>
              <a:path w="18125440">
                <a:moveTo>
                  <a:pt x="0" y="0"/>
                </a:moveTo>
                <a:lnTo>
                  <a:pt x="18125103" y="0"/>
                </a:lnTo>
              </a:path>
            </a:pathLst>
          </a:custGeom>
          <a:ln w="23559">
            <a:solidFill>
              <a:srgbClr val="7C030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0" i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461144" y="3346491"/>
            <a:ext cx="7633970" cy="5711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0" i="0">
                <a:solidFill>
                  <a:srgbClr val="16264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837349" y="3354998"/>
            <a:ext cx="7787005" cy="5710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0" i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22728" y="7397680"/>
            <a:ext cx="557574" cy="314126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54515" y="7554743"/>
            <a:ext cx="494749" cy="293708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22728" y="1413569"/>
            <a:ext cx="557574" cy="3408273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020911" y="1990777"/>
            <a:ext cx="9031605" cy="0"/>
          </a:xfrm>
          <a:custGeom>
            <a:avLst/>
            <a:gdLst/>
            <a:ahLst/>
            <a:cxnLst/>
            <a:rect l="l" t="t" r="r" b="b"/>
            <a:pathLst>
              <a:path w="9031605">
                <a:moveTo>
                  <a:pt x="0" y="0"/>
                </a:moveTo>
                <a:lnTo>
                  <a:pt x="9031139" y="0"/>
                </a:lnTo>
              </a:path>
            </a:pathLst>
          </a:custGeom>
          <a:ln w="23559">
            <a:solidFill>
              <a:srgbClr val="7C030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740480" y="4531275"/>
            <a:ext cx="2615103" cy="212035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732627" y="2230298"/>
            <a:ext cx="1115149" cy="251301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256141" y="2230298"/>
            <a:ext cx="1107296" cy="251301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732627" y="2693635"/>
            <a:ext cx="1115149" cy="243448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256141" y="2693635"/>
            <a:ext cx="1107296" cy="243448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724774" y="8465711"/>
            <a:ext cx="1107296" cy="251301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3256141" y="8465711"/>
            <a:ext cx="1107296" cy="25130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72749" y="1108339"/>
            <a:ext cx="12253594" cy="555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0" i="0">
                <a:solidFill>
                  <a:srgbClr val="11111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36540" y="5568936"/>
            <a:ext cx="8349615" cy="34260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17650" y="3140075"/>
            <a:ext cx="17754600" cy="93807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6000" spc="155" dirty="0">
                <a:solidFill>
                  <a:srgbClr val="1A1A1A"/>
                </a:solidFill>
              </a:rPr>
              <a:t>STEGANOGRAPHY</a:t>
            </a:r>
            <a:r>
              <a:rPr sz="6000" spc="925" dirty="0">
                <a:solidFill>
                  <a:srgbClr val="1A1A1A"/>
                </a:solidFill>
              </a:rPr>
              <a:t> </a:t>
            </a:r>
            <a:r>
              <a:rPr sz="6000" dirty="0">
                <a:solidFill>
                  <a:srgbClr val="05162D"/>
                </a:solidFill>
              </a:rPr>
              <a:t>VS</a:t>
            </a:r>
            <a:r>
              <a:rPr sz="6000" spc="290" dirty="0">
                <a:solidFill>
                  <a:srgbClr val="05162D"/>
                </a:solidFill>
              </a:rPr>
              <a:t> </a:t>
            </a:r>
            <a:r>
              <a:rPr sz="6000" spc="140" dirty="0">
                <a:solidFill>
                  <a:srgbClr val="08182F"/>
                </a:solidFill>
              </a:rPr>
              <a:t>CRYPTOGRAPHY</a:t>
            </a:r>
            <a:endParaRPr sz="6000" dirty="0"/>
          </a:p>
        </p:txBody>
      </p:sp>
      <p:sp>
        <p:nvSpPr>
          <p:cNvPr id="3" name="object 3"/>
          <p:cNvSpPr txBox="1"/>
          <p:nvPr/>
        </p:nvSpPr>
        <p:spPr>
          <a:xfrm>
            <a:off x="1517650" y="5197475"/>
            <a:ext cx="10872860" cy="276755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7940" algn="ctr">
              <a:lnSpc>
                <a:spcPct val="100000"/>
              </a:lnSpc>
              <a:spcBef>
                <a:spcPts val="110"/>
              </a:spcBef>
            </a:pPr>
            <a:endParaRPr sz="2950" dirty="0">
              <a:latin typeface="Times New Roman" panose="02020603050405020304"/>
              <a:cs typeface="Times New Roman" panose="02020603050405020304"/>
            </a:endParaRPr>
          </a:p>
          <a:p>
            <a:pPr marL="12700" marR="5080" indent="20955" algn="ctr">
              <a:lnSpc>
                <a:spcPct val="122000"/>
              </a:lnSpc>
            </a:pPr>
            <a:endParaRPr lang="en-US" sz="2950" dirty="0">
              <a:latin typeface="Times New Roman" panose="02020603050405020304"/>
              <a:cs typeface="Times New Roman" panose="02020603050405020304"/>
            </a:endParaRPr>
          </a:p>
          <a:p>
            <a:pPr marL="12700" marR="5080" indent="20955" algn="l">
              <a:lnSpc>
                <a:spcPct val="122000"/>
              </a:lnSpc>
            </a:pPr>
            <a:r>
              <a:rPr sz="3200" dirty="0">
                <a:solidFill>
                  <a:srgbClr val="77000F"/>
                </a:solidFill>
                <a:latin typeface="Cambria" panose="02040503050406030204"/>
                <a:cs typeface="Cambria" panose="02040503050406030204"/>
              </a:rPr>
              <a:t>Subject:</a:t>
            </a:r>
            <a:r>
              <a:rPr sz="3200" spc="275" dirty="0">
                <a:solidFill>
                  <a:srgbClr val="77000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3200" dirty="0">
                <a:solidFill>
                  <a:srgbClr val="87000A"/>
                </a:solidFill>
                <a:latin typeface="Cambria" panose="02040503050406030204"/>
                <a:cs typeface="Cambria" panose="02040503050406030204"/>
              </a:rPr>
              <a:t>Cryptography</a:t>
            </a:r>
            <a:r>
              <a:rPr sz="3200" spc="535" dirty="0">
                <a:solidFill>
                  <a:srgbClr val="87000A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3200" dirty="0">
                <a:solidFill>
                  <a:srgbClr val="93110C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sz="3200" spc="30" dirty="0">
                <a:solidFill>
                  <a:srgbClr val="93110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3200" dirty="0">
                <a:solidFill>
                  <a:srgbClr val="85071C"/>
                </a:solidFill>
                <a:latin typeface="Cambria" panose="02040503050406030204"/>
                <a:cs typeface="Cambria" panose="02040503050406030204"/>
              </a:rPr>
              <a:t>Network</a:t>
            </a:r>
            <a:r>
              <a:rPr sz="3200" spc="320" dirty="0">
                <a:solidFill>
                  <a:srgbClr val="85071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3200" spc="-10" dirty="0">
                <a:solidFill>
                  <a:srgbClr val="77000F"/>
                </a:solidFill>
                <a:latin typeface="Cambria" panose="02040503050406030204"/>
                <a:cs typeface="Cambria" panose="02040503050406030204"/>
              </a:rPr>
              <a:t>Security </a:t>
            </a:r>
            <a:endParaRPr lang="en-US" sz="3200" spc="-10" dirty="0">
              <a:solidFill>
                <a:srgbClr val="77000F"/>
              </a:solidFill>
              <a:latin typeface="Cambria" panose="02040503050406030204"/>
              <a:cs typeface="Cambria" panose="02040503050406030204"/>
            </a:endParaRPr>
          </a:p>
          <a:p>
            <a:pPr marL="12700" marR="5080" indent="20955" algn="l">
              <a:lnSpc>
                <a:spcPct val="122000"/>
              </a:lnSpc>
            </a:pPr>
            <a:r>
              <a:rPr sz="3200" dirty="0">
                <a:solidFill>
                  <a:srgbClr val="7B012A"/>
                </a:solidFill>
                <a:latin typeface="Cambria" panose="02040503050406030204"/>
                <a:cs typeface="Cambria" panose="02040503050406030204"/>
              </a:rPr>
              <a:t>Name:</a:t>
            </a:r>
            <a:r>
              <a:rPr sz="3200" spc="245" dirty="0">
                <a:solidFill>
                  <a:srgbClr val="7B012A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3200" dirty="0">
                <a:solidFill>
                  <a:srgbClr val="890800"/>
                </a:solidFill>
                <a:latin typeface="Cambria" panose="02040503050406030204"/>
                <a:cs typeface="Cambria" panose="02040503050406030204"/>
              </a:rPr>
              <a:t>Mohammed</a:t>
            </a:r>
            <a:r>
              <a:rPr sz="3200" spc="180" dirty="0">
                <a:solidFill>
                  <a:srgbClr val="89080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3200" dirty="0">
                <a:solidFill>
                  <a:srgbClr val="87030F"/>
                </a:solidFill>
                <a:latin typeface="Cambria" panose="02040503050406030204"/>
                <a:cs typeface="Cambria" panose="02040503050406030204"/>
              </a:rPr>
              <a:t>Arshad</a:t>
            </a:r>
            <a:r>
              <a:rPr sz="3200" spc="135" dirty="0">
                <a:solidFill>
                  <a:srgbClr val="87030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3200" dirty="0">
                <a:solidFill>
                  <a:srgbClr val="8C0011"/>
                </a:solidFill>
                <a:latin typeface="Cambria" panose="02040503050406030204"/>
                <a:cs typeface="Cambria" panose="02040503050406030204"/>
              </a:rPr>
              <a:t>R</a:t>
            </a:r>
            <a:r>
              <a:rPr sz="3200" spc="340" dirty="0">
                <a:solidFill>
                  <a:srgbClr val="8C0011"/>
                </a:solidFill>
                <a:latin typeface="Cambria" panose="02040503050406030204"/>
                <a:cs typeface="Cambria" panose="02040503050406030204"/>
              </a:rPr>
              <a:t> </a:t>
            </a:r>
            <a:endParaRPr lang="en-US" sz="3200" spc="340" dirty="0">
              <a:solidFill>
                <a:srgbClr val="8C0011"/>
              </a:solidFill>
              <a:latin typeface="Cambria" panose="02040503050406030204"/>
              <a:cs typeface="Cambria" panose="02040503050406030204"/>
            </a:endParaRPr>
          </a:p>
          <a:p>
            <a:pPr marL="12700" marR="5080" indent="20955" algn="l">
              <a:lnSpc>
                <a:spcPct val="122000"/>
              </a:lnSpc>
            </a:pPr>
            <a:r>
              <a:rPr sz="3200" spc="75" dirty="0">
                <a:solidFill>
                  <a:srgbClr val="890301"/>
                </a:solidFill>
                <a:latin typeface="Cambria" panose="02040503050406030204"/>
                <a:cs typeface="Cambria" panose="02040503050406030204"/>
              </a:rPr>
              <a:t>Reg</a:t>
            </a:r>
            <a:r>
              <a:rPr sz="3200" spc="70" dirty="0">
                <a:solidFill>
                  <a:srgbClr val="890301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3200" spc="80" dirty="0">
                <a:solidFill>
                  <a:srgbClr val="95000C"/>
                </a:solidFill>
                <a:latin typeface="Cambria" panose="02040503050406030204"/>
                <a:cs typeface="Cambria" panose="02040503050406030204"/>
              </a:rPr>
              <a:t>No:</a:t>
            </a:r>
            <a:r>
              <a:rPr sz="3200" spc="185" dirty="0">
                <a:solidFill>
                  <a:srgbClr val="95000C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3200" spc="-140" dirty="0">
                <a:solidFill>
                  <a:srgbClr val="870103"/>
                </a:solidFill>
                <a:latin typeface="Cambria" panose="02040503050406030204"/>
                <a:cs typeface="Cambria" panose="02040503050406030204"/>
              </a:rPr>
              <a:t>192521126</a:t>
            </a:r>
            <a:endParaRPr sz="3200" dirty="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25"/>
              </a:spcBef>
            </a:pPr>
            <a:r>
              <a:rPr spc="110" dirty="0">
                <a:solidFill>
                  <a:srgbClr val="151515"/>
                </a:solidFill>
              </a:rPr>
              <a:t>FUNDAMENTAL</a:t>
            </a:r>
            <a:r>
              <a:rPr spc="570" dirty="0">
                <a:solidFill>
                  <a:srgbClr val="151515"/>
                </a:solidFill>
              </a:rPr>
              <a:t> </a:t>
            </a:r>
            <a:r>
              <a:rPr spc="150" dirty="0">
                <a:solidFill>
                  <a:srgbClr val="111D36"/>
                </a:solidFill>
              </a:rPr>
              <a:t>PARADIGMS</a:t>
            </a:r>
            <a:r>
              <a:rPr spc="765" dirty="0">
                <a:solidFill>
                  <a:srgbClr val="111D36"/>
                </a:solidFill>
              </a:rPr>
              <a:t> </a:t>
            </a:r>
            <a:r>
              <a:rPr spc="170" dirty="0">
                <a:solidFill>
                  <a:srgbClr val="010F28"/>
                </a:solidFill>
              </a:rPr>
              <a:t>OF</a:t>
            </a:r>
            <a:r>
              <a:rPr spc="180" dirty="0">
                <a:solidFill>
                  <a:srgbClr val="010F28"/>
                </a:solidFill>
              </a:rPr>
              <a:t> </a:t>
            </a:r>
            <a:r>
              <a:rPr spc="170" dirty="0">
                <a:solidFill>
                  <a:srgbClr val="0A182F"/>
                </a:solidFill>
              </a:rPr>
              <a:t>SECURITY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25"/>
              </a:spcBef>
            </a:pPr>
            <a:r>
              <a:rPr dirty="0"/>
              <a:t>Cryptography</a:t>
            </a:r>
            <a:r>
              <a:rPr spc="220" dirty="0"/>
              <a:t> </a:t>
            </a:r>
            <a:r>
              <a:rPr spc="-10" dirty="0">
                <a:solidFill>
                  <a:srgbClr val="111111"/>
                </a:solidFill>
              </a:rPr>
              <a:t>Paradigm</a:t>
            </a:r>
          </a:p>
          <a:p>
            <a:pPr marL="22225" marR="5080" indent="-10160">
              <a:lnSpc>
                <a:spcPct val="124000"/>
              </a:lnSpc>
              <a:spcBef>
                <a:spcPts val="3315"/>
              </a:spcBef>
            </a:pPr>
            <a:r>
              <a:rPr sz="2700" dirty="0">
                <a:solidFill>
                  <a:srgbClr val="000000"/>
                </a:solidFill>
              </a:rPr>
              <a:t>The</a:t>
            </a:r>
            <a:r>
              <a:rPr sz="2700" spc="-20" dirty="0">
                <a:solidFill>
                  <a:srgbClr val="000000"/>
                </a:solidFill>
              </a:rPr>
              <a:t> </a:t>
            </a:r>
            <a:r>
              <a:rPr sz="2700" dirty="0">
                <a:solidFill>
                  <a:srgbClr val="000000"/>
                </a:solidFill>
              </a:rPr>
              <a:t>science</a:t>
            </a:r>
            <a:r>
              <a:rPr sz="2700" spc="70" dirty="0">
                <a:solidFill>
                  <a:srgbClr val="000000"/>
                </a:solidFill>
              </a:rPr>
              <a:t> </a:t>
            </a:r>
            <a:r>
              <a:rPr sz="2700" dirty="0">
                <a:solidFill>
                  <a:srgbClr val="000000"/>
                </a:solidFill>
              </a:rPr>
              <a:t>of</a:t>
            </a:r>
            <a:r>
              <a:rPr sz="2700" spc="180" dirty="0">
                <a:solidFill>
                  <a:srgbClr val="000000"/>
                </a:solidFill>
              </a:rPr>
              <a:t> </a:t>
            </a:r>
            <a:r>
              <a:rPr sz="2700" dirty="0">
                <a:solidFill>
                  <a:srgbClr val="000000"/>
                </a:solidFill>
              </a:rPr>
              <a:t>altering</a:t>
            </a:r>
            <a:r>
              <a:rPr sz="2700" spc="90" dirty="0">
                <a:solidFill>
                  <a:srgbClr val="000000"/>
                </a:solidFill>
              </a:rPr>
              <a:t> </a:t>
            </a:r>
            <a:r>
              <a:rPr sz="2700" dirty="0">
                <a:solidFill>
                  <a:srgbClr val="000000"/>
                </a:solidFill>
              </a:rPr>
              <a:t>content</a:t>
            </a:r>
            <a:r>
              <a:rPr sz="2700" spc="55" dirty="0">
                <a:solidFill>
                  <a:srgbClr val="000000"/>
                </a:solidFill>
              </a:rPr>
              <a:t> </a:t>
            </a:r>
            <a:r>
              <a:rPr sz="2700" dirty="0">
                <a:solidFill>
                  <a:srgbClr val="000000"/>
                </a:solidFill>
              </a:rPr>
              <a:t>intelligibility</a:t>
            </a:r>
            <a:r>
              <a:rPr sz="2700" spc="-60" dirty="0">
                <a:solidFill>
                  <a:srgbClr val="000000"/>
                </a:solidFill>
              </a:rPr>
              <a:t> </a:t>
            </a:r>
            <a:r>
              <a:rPr sz="2700" dirty="0">
                <a:solidFill>
                  <a:srgbClr val="0F0F0F"/>
                </a:solidFill>
              </a:rPr>
              <a:t>to </a:t>
            </a:r>
            <a:r>
              <a:rPr sz="2700" spc="-10" dirty="0">
                <a:solidFill>
                  <a:srgbClr val="000000"/>
                </a:solidFill>
              </a:rPr>
              <a:t>prevent </a:t>
            </a:r>
            <a:r>
              <a:rPr sz="2700" dirty="0">
                <a:solidFill>
                  <a:srgbClr val="000000"/>
                </a:solidFill>
              </a:rPr>
              <a:t>unauthorized</a:t>
            </a:r>
            <a:r>
              <a:rPr sz="2700" spc="5" dirty="0">
                <a:solidFill>
                  <a:srgbClr val="000000"/>
                </a:solidFill>
              </a:rPr>
              <a:t> </a:t>
            </a:r>
            <a:r>
              <a:rPr sz="2700" spc="-10" dirty="0">
                <a:solidFill>
                  <a:srgbClr val="000000"/>
                </a:solidFill>
              </a:rPr>
              <a:t>access.</a:t>
            </a:r>
            <a:endParaRPr sz="2700"/>
          </a:p>
          <a:p>
            <a:pPr marL="405130" marR="362585" indent="-330835">
              <a:lnSpc>
                <a:spcPct val="122000"/>
              </a:lnSpc>
              <a:spcBef>
                <a:spcPts val="2720"/>
              </a:spcBef>
              <a:buChar char="•"/>
              <a:tabLst>
                <a:tab pos="405130" algn="l"/>
                <a:tab pos="410845" algn="l"/>
              </a:tabLst>
            </a:pPr>
            <a:r>
              <a:rPr sz="2700" dirty="0">
                <a:solidFill>
                  <a:srgbClr val="0F0F0F"/>
                </a:solidFill>
              </a:rPr>
              <a:t>	</a:t>
            </a:r>
            <a:r>
              <a:rPr sz="2700" spc="50" dirty="0">
                <a:solidFill>
                  <a:srgbClr val="000000"/>
                </a:solidFill>
              </a:rPr>
              <a:t>Objective:</a:t>
            </a:r>
            <a:r>
              <a:rPr sz="2700" spc="145" dirty="0">
                <a:solidFill>
                  <a:srgbClr val="000000"/>
                </a:solidFill>
              </a:rPr>
              <a:t> </a:t>
            </a:r>
            <a:r>
              <a:rPr sz="2700" dirty="0">
                <a:solidFill>
                  <a:srgbClr val="000000"/>
                </a:solidFill>
              </a:rPr>
              <a:t>Render</a:t>
            </a:r>
            <a:r>
              <a:rPr sz="2700" spc="90" dirty="0">
                <a:solidFill>
                  <a:srgbClr val="000000"/>
                </a:solidFill>
              </a:rPr>
              <a:t> </a:t>
            </a:r>
            <a:r>
              <a:rPr sz="2700" dirty="0">
                <a:solidFill>
                  <a:srgbClr val="000000"/>
                </a:solidFill>
              </a:rPr>
              <a:t>data</a:t>
            </a:r>
            <a:r>
              <a:rPr sz="2700" spc="-20" dirty="0">
                <a:solidFill>
                  <a:srgbClr val="000000"/>
                </a:solidFill>
              </a:rPr>
              <a:t> </a:t>
            </a:r>
            <a:r>
              <a:rPr sz="2700" dirty="0">
                <a:solidFill>
                  <a:srgbClr val="000000"/>
                </a:solidFill>
              </a:rPr>
              <a:t>completely</a:t>
            </a:r>
            <a:r>
              <a:rPr sz="2700" spc="105" dirty="0">
                <a:solidFill>
                  <a:srgbClr val="000000"/>
                </a:solidFill>
              </a:rPr>
              <a:t> </a:t>
            </a:r>
            <a:r>
              <a:rPr sz="2700" dirty="0">
                <a:solidFill>
                  <a:srgbClr val="000000"/>
                </a:solidFill>
              </a:rPr>
              <a:t>unreadable</a:t>
            </a:r>
            <a:r>
              <a:rPr sz="2700" spc="150" dirty="0">
                <a:solidFill>
                  <a:srgbClr val="000000"/>
                </a:solidFill>
              </a:rPr>
              <a:t> </a:t>
            </a:r>
            <a:r>
              <a:rPr sz="2700" spc="-25" dirty="0">
                <a:solidFill>
                  <a:srgbClr val="000000"/>
                </a:solidFill>
              </a:rPr>
              <a:t>to </a:t>
            </a:r>
            <a:r>
              <a:rPr sz="2700" spc="-10" dirty="0">
                <a:solidFill>
                  <a:srgbClr val="000000"/>
                </a:solidFill>
              </a:rPr>
              <a:t>interceptors.</a:t>
            </a:r>
            <a:endParaRPr sz="2700"/>
          </a:p>
          <a:p>
            <a:pPr marL="409575" marR="442595" indent="-335280">
              <a:lnSpc>
                <a:spcPct val="124000"/>
              </a:lnSpc>
              <a:spcBef>
                <a:spcPts val="1360"/>
              </a:spcBef>
              <a:buClr>
                <a:srgbClr val="0F0F0F"/>
              </a:buClr>
              <a:buChar char="•"/>
              <a:tabLst>
                <a:tab pos="412750" algn="l"/>
              </a:tabLst>
            </a:pPr>
            <a:r>
              <a:rPr sz="2700" spc="55" dirty="0">
                <a:solidFill>
                  <a:srgbClr val="000000"/>
                </a:solidFill>
              </a:rPr>
              <a:t>Focus:</a:t>
            </a:r>
            <a:r>
              <a:rPr sz="2700" spc="40" dirty="0">
                <a:solidFill>
                  <a:srgbClr val="000000"/>
                </a:solidFill>
              </a:rPr>
              <a:t> </a:t>
            </a:r>
            <a:r>
              <a:rPr sz="2700" dirty="0">
                <a:solidFill>
                  <a:srgbClr val="000000"/>
                </a:solidFill>
              </a:rPr>
              <a:t>Obscurity</a:t>
            </a:r>
            <a:r>
              <a:rPr sz="2700" spc="105" dirty="0">
                <a:solidFill>
                  <a:srgbClr val="000000"/>
                </a:solidFill>
              </a:rPr>
              <a:t> </a:t>
            </a:r>
            <a:r>
              <a:rPr sz="2700" dirty="0">
                <a:solidFill>
                  <a:srgbClr val="000000"/>
                </a:solidFill>
              </a:rPr>
              <a:t>of</a:t>
            </a:r>
            <a:r>
              <a:rPr sz="2700" spc="120" dirty="0">
                <a:solidFill>
                  <a:srgbClr val="000000"/>
                </a:solidFill>
              </a:rPr>
              <a:t> </a:t>
            </a:r>
            <a:r>
              <a:rPr sz="2700" dirty="0">
                <a:solidFill>
                  <a:srgbClr val="000000"/>
                </a:solidFill>
              </a:rPr>
              <a:t>data meaning</a:t>
            </a:r>
            <a:r>
              <a:rPr sz="2700" spc="70" dirty="0">
                <a:solidFill>
                  <a:srgbClr val="000000"/>
                </a:solidFill>
              </a:rPr>
              <a:t> </a:t>
            </a:r>
            <a:r>
              <a:rPr sz="2700" dirty="0">
                <a:solidFill>
                  <a:srgbClr val="000000"/>
                </a:solidFill>
              </a:rPr>
              <a:t>via</a:t>
            </a:r>
            <a:r>
              <a:rPr sz="2700" spc="-30" dirty="0">
                <a:solidFill>
                  <a:srgbClr val="000000"/>
                </a:solidFill>
              </a:rPr>
              <a:t> </a:t>
            </a:r>
            <a:r>
              <a:rPr sz="2700" spc="-20" dirty="0">
                <a:solidFill>
                  <a:srgbClr val="000000"/>
                </a:solidFill>
              </a:rPr>
              <a:t>encryption 	</a:t>
            </a:r>
            <a:r>
              <a:rPr sz="2700" spc="-10" dirty="0">
                <a:solidFill>
                  <a:srgbClr val="000000"/>
                </a:solidFill>
              </a:rPr>
              <a:t>keys.</a:t>
            </a:r>
            <a:endParaRPr sz="2700"/>
          </a:p>
          <a:p>
            <a:pPr marL="408305" marR="133985" indent="-334010">
              <a:lnSpc>
                <a:spcPct val="122000"/>
              </a:lnSpc>
              <a:spcBef>
                <a:spcPts val="1300"/>
              </a:spcBef>
              <a:buClr>
                <a:srgbClr val="0F0F0F"/>
              </a:buClr>
              <a:buChar char="•"/>
              <a:tabLst>
                <a:tab pos="411480" algn="l"/>
              </a:tabLst>
            </a:pPr>
            <a:r>
              <a:rPr sz="2700" dirty="0">
                <a:solidFill>
                  <a:srgbClr val="000000"/>
                </a:solidFill>
              </a:rPr>
              <a:t>Evidence:</a:t>
            </a:r>
            <a:r>
              <a:rPr sz="2700" spc="280" dirty="0">
                <a:solidFill>
                  <a:srgbClr val="000000"/>
                </a:solidFill>
              </a:rPr>
              <a:t> </a:t>
            </a:r>
            <a:r>
              <a:rPr sz="2700" dirty="0">
                <a:solidFill>
                  <a:srgbClr val="000000"/>
                </a:solidFill>
              </a:rPr>
              <a:t>Ciphertext</a:t>
            </a:r>
            <a:r>
              <a:rPr sz="2700" spc="220" dirty="0">
                <a:solidFill>
                  <a:srgbClr val="000000"/>
                </a:solidFill>
              </a:rPr>
              <a:t> </a:t>
            </a:r>
            <a:r>
              <a:rPr sz="2700" dirty="0">
                <a:solidFill>
                  <a:srgbClr val="0E0E0E"/>
                </a:solidFill>
              </a:rPr>
              <a:t>is</a:t>
            </a:r>
            <a:r>
              <a:rPr sz="2700" spc="20" dirty="0">
                <a:solidFill>
                  <a:srgbClr val="0E0E0E"/>
                </a:solidFill>
              </a:rPr>
              <a:t> </a:t>
            </a:r>
            <a:r>
              <a:rPr sz="2700" dirty="0">
                <a:solidFill>
                  <a:srgbClr val="000000"/>
                </a:solidFill>
              </a:rPr>
              <a:t>visible</a:t>
            </a:r>
            <a:r>
              <a:rPr sz="2700" spc="135" dirty="0">
                <a:solidFill>
                  <a:srgbClr val="000000"/>
                </a:solidFill>
              </a:rPr>
              <a:t> </a:t>
            </a:r>
            <a:r>
              <a:rPr sz="2700" dirty="0">
                <a:solidFill>
                  <a:srgbClr val="000000"/>
                </a:solidFill>
              </a:rPr>
              <a:t>but</a:t>
            </a:r>
            <a:r>
              <a:rPr sz="2700" spc="105" dirty="0">
                <a:solidFill>
                  <a:srgbClr val="000000"/>
                </a:solidFill>
              </a:rPr>
              <a:t> </a:t>
            </a:r>
            <a:r>
              <a:rPr sz="2700" spc="-10" dirty="0">
                <a:solidFill>
                  <a:srgbClr val="000000"/>
                </a:solidFill>
              </a:rPr>
              <a:t>mathematically 	complex.</a:t>
            </a:r>
            <a:endParaRPr sz="2700"/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Steganography</a:t>
            </a:r>
            <a:r>
              <a:rPr spc="615" dirty="0"/>
              <a:t> </a:t>
            </a:r>
            <a:r>
              <a:rPr spc="45" dirty="0">
                <a:solidFill>
                  <a:srgbClr val="0E0E0E"/>
                </a:solidFill>
              </a:rPr>
              <a:t>Paradigm</a:t>
            </a:r>
          </a:p>
          <a:p>
            <a:pPr marL="24130" marR="648970" indent="-12065">
              <a:lnSpc>
                <a:spcPct val="122000"/>
              </a:lnSpc>
              <a:spcBef>
                <a:spcPts val="3455"/>
              </a:spcBef>
            </a:pPr>
            <a:r>
              <a:rPr sz="2700" dirty="0">
                <a:solidFill>
                  <a:srgbClr val="000000"/>
                </a:solidFill>
              </a:rPr>
              <a:t>The</a:t>
            </a:r>
            <a:r>
              <a:rPr sz="2700" spc="-55" dirty="0">
                <a:solidFill>
                  <a:srgbClr val="000000"/>
                </a:solidFill>
              </a:rPr>
              <a:t> </a:t>
            </a:r>
            <a:r>
              <a:rPr sz="2700" dirty="0">
                <a:solidFill>
                  <a:srgbClr val="000000"/>
                </a:solidFill>
              </a:rPr>
              <a:t>science</a:t>
            </a:r>
            <a:r>
              <a:rPr sz="2700" spc="25" dirty="0">
                <a:solidFill>
                  <a:srgbClr val="000000"/>
                </a:solidFill>
              </a:rPr>
              <a:t> </a:t>
            </a:r>
            <a:r>
              <a:rPr sz="2700" dirty="0">
                <a:solidFill>
                  <a:srgbClr val="000000"/>
                </a:solidFill>
              </a:rPr>
              <a:t>of</a:t>
            </a:r>
            <a:r>
              <a:rPr sz="2700" spc="130" dirty="0">
                <a:solidFill>
                  <a:srgbClr val="000000"/>
                </a:solidFill>
              </a:rPr>
              <a:t> </a:t>
            </a:r>
            <a:r>
              <a:rPr sz="2700" dirty="0">
                <a:solidFill>
                  <a:srgbClr val="000000"/>
                </a:solidFill>
              </a:rPr>
              <a:t>altering</a:t>
            </a:r>
            <a:r>
              <a:rPr sz="2700" spc="-5" dirty="0">
                <a:solidFill>
                  <a:srgbClr val="000000"/>
                </a:solidFill>
              </a:rPr>
              <a:t> </a:t>
            </a:r>
            <a:r>
              <a:rPr sz="2700" dirty="0">
                <a:solidFill>
                  <a:srgbClr val="000000"/>
                </a:solidFill>
              </a:rPr>
              <a:t>visual</a:t>
            </a:r>
            <a:r>
              <a:rPr sz="2700" spc="35" dirty="0">
                <a:solidFill>
                  <a:srgbClr val="000000"/>
                </a:solidFill>
              </a:rPr>
              <a:t> </a:t>
            </a:r>
            <a:r>
              <a:rPr sz="2700" dirty="0">
                <a:solidFill>
                  <a:srgbClr val="000000"/>
                </a:solidFill>
              </a:rPr>
              <a:t>or logical</a:t>
            </a:r>
            <a:r>
              <a:rPr sz="2700" spc="40" dirty="0">
                <a:solidFill>
                  <a:srgbClr val="000000"/>
                </a:solidFill>
              </a:rPr>
              <a:t> </a:t>
            </a:r>
            <a:r>
              <a:rPr sz="2700" dirty="0">
                <a:solidFill>
                  <a:srgbClr val="000000"/>
                </a:solidFill>
              </a:rPr>
              <a:t>presence</a:t>
            </a:r>
            <a:r>
              <a:rPr sz="2700" spc="95" dirty="0">
                <a:solidFill>
                  <a:srgbClr val="000000"/>
                </a:solidFill>
              </a:rPr>
              <a:t> </a:t>
            </a:r>
            <a:r>
              <a:rPr sz="2700" spc="-25" dirty="0">
                <a:solidFill>
                  <a:srgbClr val="0C0C0C"/>
                </a:solidFill>
              </a:rPr>
              <a:t>to </a:t>
            </a:r>
            <a:r>
              <a:rPr sz="2700" dirty="0">
                <a:solidFill>
                  <a:srgbClr val="000000"/>
                </a:solidFill>
              </a:rPr>
              <a:t>prevent</a:t>
            </a:r>
            <a:r>
              <a:rPr sz="2700" spc="-15" dirty="0">
                <a:solidFill>
                  <a:srgbClr val="000000"/>
                </a:solidFill>
              </a:rPr>
              <a:t> </a:t>
            </a:r>
            <a:r>
              <a:rPr sz="2700" dirty="0">
                <a:solidFill>
                  <a:srgbClr val="000000"/>
                </a:solidFill>
              </a:rPr>
              <a:t>interception</a:t>
            </a:r>
            <a:r>
              <a:rPr sz="2700" spc="80" dirty="0">
                <a:solidFill>
                  <a:srgbClr val="000000"/>
                </a:solidFill>
              </a:rPr>
              <a:t> </a:t>
            </a:r>
            <a:r>
              <a:rPr sz="2700" spc="-10" dirty="0">
                <a:solidFill>
                  <a:srgbClr val="000000"/>
                </a:solidFill>
              </a:rPr>
              <a:t>detection.</a:t>
            </a:r>
            <a:endParaRPr sz="2700"/>
          </a:p>
          <a:p>
            <a:pPr marL="412115" marR="1486535" indent="-337185">
              <a:lnSpc>
                <a:spcPct val="122000"/>
              </a:lnSpc>
              <a:spcBef>
                <a:spcPts val="2725"/>
              </a:spcBef>
              <a:buClr>
                <a:srgbClr val="0F0F0F"/>
              </a:buClr>
              <a:buChar char="•"/>
              <a:tabLst>
                <a:tab pos="412115" algn="l"/>
              </a:tabLst>
            </a:pPr>
            <a:r>
              <a:rPr sz="2700" spc="50" dirty="0">
                <a:solidFill>
                  <a:srgbClr val="000000"/>
                </a:solidFill>
              </a:rPr>
              <a:t>Objective:</a:t>
            </a:r>
            <a:r>
              <a:rPr sz="2700" spc="150" dirty="0">
                <a:solidFill>
                  <a:srgbClr val="000000"/>
                </a:solidFill>
              </a:rPr>
              <a:t> </a:t>
            </a:r>
            <a:r>
              <a:rPr sz="2700" dirty="0">
                <a:solidFill>
                  <a:srgbClr val="000000"/>
                </a:solidFill>
              </a:rPr>
              <a:t>Conceal</a:t>
            </a:r>
            <a:r>
              <a:rPr sz="2700" spc="125" dirty="0">
                <a:solidFill>
                  <a:srgbClr val="000000"/>
                </a:solidFill>
              </a:rPr>
              <a:t> </a:t>
            </a:r>
            <a:r>
              <a:rPr sz="2700" dirty="0">
                <a:solidFill>
                  <a:srgbClr val="000000"/>
                </a:solidFill>
              </a:rPr>
              <a:t>the</a:t>
            </a:r>
            <a:r>
              <a:rPr sz="2700" spc="-10" dirty="0">
                <a:solidFill>
                  <a:srgbClr val="000000"/>
                </a:solidFill>
              </a:rPr>
              <a:t> </a:t>
            </a:r>
            <a:r>
              <a:rPr sz="2700" dirty="0">
                <a:solidFill>
                  <a:srgbClr val="000000"/>
                </a:solidFill>
              </a:rPr>
              <a:t>actual</a:t>
            </a:r>
            <a:r>
              <a:rPr sz="2700" spc="30" dirty="0">
                <a:solidFill>
                  <a:srgbClr val="000000"/>
                </a:solidFill>
              </a:rPr>
              <a:t> </a:t>
            </a:r>
            <a:r>
              <a:rPr sz="2700" dirty="0">
                <a:solidFill>
                  <a:srgbClr val="000000"/>
                </a:solidFill>
              </a:rPr>
              <a:t>existence</a:t>
            </a:r>
            <a:r>
              <a:rPr sz="2700" spc="120" dirty="0">
                <a:solidFill>
                  <a:srgbClr val="000000"/>
                </a:solidFill>
              </a:rPr>
              <a:t> </a:t>
            </a:r>
            <a:r>
              <a:rPr sz="2700" spc="-95" dirty="0">
                <a:solidFill>
                  <a:srgbClr val="000000"/>
                </a:solidFill>
              </a:rPr>
              <a:t>of </a:t>
            </a:r>
            <a:r>
              <a:rPr sz="2700" spc="-10" dirty="0">
                <a:solidFill>
                  <a:srgbClr val="000000"/>
                </a:solidFill>
              </a:rPr>
              <a:t>communication.</a:t>
            </a:r>
            <a:endParaRPr sz="2700"/>
          </a:p>
          <a:p>
            <a:pPr marL="408940" marR="882015" indent="-334645">
              <a:lnSpc>
                <a:spcPct val="124000"/>
              </a:lnSpc>
              <a:spcBef>
                <a:spcPts val="1420"/>
              </a:spcBef>
              <a:buClr>
                <a:srgbClr val="111111"/>
              </a:buClr>
              <a:buChar char="•"/>
              <a:tabLst>
                <a:tab pos="412750" algn="l"/>
              </a:tabLst>
            </a:pPr>
            <a:r>
              <a:rPr sz="2700" spc="55" dirty="0">
                <a:solidFill>
                  <a:srgbClr val="000000"/>
                </a:solidFill>
              </a:rPr>
              <a:t>Focus:</a:t>
            </a:r>
            <a:r>
              <a:rPr sz="2700" spc="45" dirty="0">
                <a:solidFill>
                  <a:srgbClr val="000000"/>
                </a:solidFill>
              </a:rPr>
              <a:t> </a:t>
            </a:r>
            <a:r>
              <a:rPr sz="2700" dirty="0">
                <a:solidFill>
                  <a:srgbClr val="000000"/>
                </a:solidFill>
              </a:rPr>
              <a:t>Hiding</a:t>
            </a:r>
            <a:r>
              <a:rPr sz="2700" spc="114" dirty="0">
                <a:solidFill>
                  <a:srgbClr val="000000"/>
                </a:solidFill>
              </a:rPr>
              <a:t> </a:t>
            </a:r>
            <a:r>
              <a:rPr sz="2700" dirty="0">
                <a:solidFill>
                  <a:srgbClr val="000000"/>
                </a:solidFill>
              </a:rPr>
              <a:t>payloads</a:t>
            </a:r>
            <a:r>
              <a:rPr sz="2700" spc="30" dirty="0">
                <a:solidFill>
                  <a:srgbClr val="000000"/>
                </a:solidFill>
              </a:rPr>
              <a:t> </a:t>
            </a:r>
            <a:r>
              <a:rPr sz="2700" dirty="0">
                <a:solidFill>
                  <a:srgbClr val="000000"/>
                </a:solidFill>
              </a:rPr>
              <a:t>inside innocent</a:t>
            </a:r>
            <a:r>
              <a:rPr sz="2700" spc="120" dirty="0">
                <a:solidFill>
                  <a:srgbClr val="000000"/>
                </a:solidFill>
              </a:rPr>
              <a:t> </a:t>
            </a:r>
            <a:r>
              <a:rPr sz="2700" spc="-10" dirty="0">
                <a:solidFill>
                  <a:srgbClr val="000000"/>
                </a:solidFill>
              </a:rPr>
              <a:t>carrier 	media.</a:t>
            </a:r>
            <a:endParaRPr sz="2700"/>
          </a:p>
          <a:p>
            <a:pPr marL="407035" marR="5080" indent="-332105">
              <a:lnSpc>
                <a:spcPct val="124000"/>
              </a:lnSpc>
              <a:spcBef>
                <a:spcPts val="1235"/>
              </a:spcBef>
              <a:buChar char="•"/>
              <a:tabLst>
                <a:tab pos="406400" algn="l"/>
                <a:tab pos="408940" algn="l"/>
              </a:tabLst>
            </a:pPr>
            <a:r>
              <a:rPr sz="2700" dirty="0"/>
              <a:t>	</a:t>
            </a:r>
            <a:r>
              <a:rPr sz="2700" dirty="0">
                <a:solidFill>
                  <a:srgbClr val="000000"/>
                </a:solidFill>
              </a:rPr>
              <a:t>Evidence:</a:t>
            </a:r>
            <a:r>
              <a:rPr sz="2700" spc="215" dirty="0">
                <a:solidFill>
                  <a:srgbClr val="000000"/>
                </a:solidFill>
              </a:rPr>
              <a:t> </a:t>
            </a:r>
            <a:r>
              <a:rPr sz="2700" dirty="0">
                <a:solidFill>
                  <a:srgbClr val="000000"/>
                </a:solidFill>
              </a:rPr>
              <a:t>Cover</a:t>
            </a:r>
            <a:r>
              <a:rPr sz="2700" spc="140" dirty="0">
                <a:solidFill>
                  <a:srgbClr val="000000"/>
                </a:solidFill>
              </a:rPr>
              <a:t> </a:t>
            </a:r>
            <a:r>
              <a:rPr sz="2700" dirty="0">
                <a:solidFill>
                  <a:srgbClr val="000000"/>
                </a:solidFill>
              </a:rPr>
              <a:t>asset</a:t>
            </a:r>
            <a:r>
              <a:rPr sz="2700" spc="75" dirty="0">
                <a:solidFill>
                  <a:srgbClr val="000000"/>
                </a:solidFill>
              </a:rPr>
              <a:t> </a:t>
            </a:r>
            <a:r>
              <a:rPr sz="2700" dirty="0">
                <a:solidFill>
                  <a:srgbClr val="000000"/>
                </a:solidFill>
              </a:rPr>
              <a:t>remains</a:t>
            </a:r>
            <a:r>
              <a:rPr sz="2700" spc="130" dirty="0">
                <a:solidFill>
                  <a:srgbClr val="000000"/>
                </a:solidFill>
              </a:rPr>
              <a:t> </a:t>
            </a:r>
            <a:r>
              <a:rPr sz="2700" dirty="0">
                <a:solidFill>
                  <a:srgbClr val="000000"/>
                </a:solidFill>
              </a:rPr>
              <a:t>completely</a:t>
            </a:r>
            <a:r>
              <a:rPr sz="2700" spc="215" dirty="0">
                <a:solidFill>
                  <a:srgbClr val="000000"/>
                </a:solidFill>
              </a:rPr>
              <a:t> </a:t>
            </a:r>
            <a:r>
              <a:rPr sz="2700" dirty="0">
                <a:solidFill>
                  <a:srgbClr val="000000"/>
                </a:solidFill>
              </a:rPr>
              <a:t>normal</a:t>
            </a:r>
            <a:r>
              <a:rPr sz="2700" spc="80" dirty="0">
                <a:solidFill>
                  <a:srgbClr val="000000"/>
                </a:solidFill>
              </a:rPr>
              <a:t> </a:t>
            </a:r>
            <a:r>
              <a:rPr sz="2700" spc="-25" dirty="0">
                <a:solidFill>
                  <a:srgbClr val="000000"/>
                </a:solidFill>
              </a:rPr>
              <a:t>to </a:t>
            </a:r>
            <a:r>
              <a:rPr sz="2700" dirty="0">
                <a:solidFill>
                  <a:srgbClr val="000000"/>
                </a:solidFill>
              </a:rPr>
              <a:t>sensory</a:t>
            </a:r>
            <a:r>
              <a:rPr sz="2700" spc="60" dirty="0">
                <a:solidFill>
                  <a:srgbClr val="000000"/>
                </a:solidFill>
              </a:rPr>
              <a:t> </a:t>
            </a:r>
            <a:r>
              <a:rPr sz="2700" spc="-10" dirty="0">
                <a:solidFill>
                  <a:srgbClr val="000000"/>
                </a:solidFill>
              </a:rPr>
              <a:t>checks.</a:t>
            </a:r>
            <a:endParaRPr sz="2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44708" y="3973700"/>
            <a:ext cx="8528536" cy="494749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0354396" y="3636014"/>
            <a:ext cx="0" cy="5513070"/>
          </a:xfrm>
          <a:custGeom>
            <a:avLst/>
            <a:gdLst/>
            <a:ahLst/>
            <a:cxnLst/>
            <a:rect l="l" t="t" r="r" b="b"/>
            <a:pathLst>
              <a:path h="5513070">
                <a:moveTo>
                  <a:pt x="0" y="5512921"/>
                </a:moveTo>
                <a:lnTo>
                  <a:pt x="0" y="0"/>
                </a:lnTo>
              </a:path>
            </a:pathLst>
          </a:custGeom>
          <a:ln w="23559">
            <a:solidFill>
              <a:srgbClr val="0C13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0342616" y="3636014"/>
            <a:ext cx="8764270" cy="5513070"/>
            <a:chOff x="10342616" y="3636014"/>
            <a:chExt cx="8764270" cy="5513070"/>
          </a:xfrm>
        </p:grpSpPr>
        <p:sp>
          <p:nvSpPr>
            <p:cNvPr id="5" name="object 5"/>
            <p:cNvSpPr/>
            <p:nvPr/>
          </p:nvSpPr>
          <p:spPr>
            <a:xfrm>
              <a:off x="19094967" y="3636014"/>
              <a:ext cx="0" cy="5513070"/>
            </a:xfrm>
            <a:custGeom>
              <a:avLst/>
              <a:gdLst/>
              <a:ahLst/>
              <a:cxnLst/>
              <a:rect l="l" t="t" r="r" b="b"/>
              <a:pathLst>
                <a:path h="5513070">
                  <a:moveTo>
                    <a:pt x="0" y="5512921"/>
                  </a:moveTo>
                  <a:lnTo>
                    <a:pt x="0" y="0"/>
                  </a:lnTo>
                </a:path>
              </a:pathLst>
            </a:custGeom>
            <a:ln w="23559">
              <a:solidFill>
                <a:srgbClr val="0C13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342616" y="3647794"/>
              <a:ext cx="8764270" cy="0"/>
            </a:xfrm>
            <a:custGeom>
              <a:avLst/>
              <a:gdLst/>
              <a:ahLst/>
              <a:cxnLst/>
              <a:rect l="l" t="t" r="r" b="b"/>
              <a:pathLst>
                <a:path w="8764269">
                  <a:moveTo>
                    <a:pt x="0" y="0"/>
                  </a:moveTo>
                  <a:lnTo>
                    <a:pt x="8764131" y="0"/>
                  </a:lnTo>
                </a:path>
              </a:pathLst>
            </a:custGeom>
            <a:ln w="23559">
              <a:solidFill>
                <a:srgbClr val="0C13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342616" y="9137156"/>
              <a:ext cx="8764270" cy="0"/>
            </a:xfrm>
            <a:custGeom>
              <a:avLst/>
              <a:gdLst/>
              <a:ahLst/>
              <a:cxnLst/>
              <a:rect l="l" t="t" r="r" b="b"/>
              <a:pathLst>
                <a:path w="8764269">
                  <a:moveTo>
                    <a:pt x="0" y="0"/>
                  </a:moveTo>
                  <a:lnTo>
                    <a:pt x="8764131" y="0"/>
                  </a:lnTo>
                </a:path>
              </a:pathLst>
            </a:custGeom>
            <a:ln w="23559">
              <a:solidFill>
                <a:srgbClr val="0C13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278421" y="6266824"/>
              <a:ext cx="0" cy="1076325"/>
            </a:xfrm>
            <a:custGeom>
              <a:avLst/>
              <a:gdLst/>
              <a:ahLst/>
              <a:cxnLst/>
              <a:rect l="l" t="t" r="r" b="b"/>
              <a:pathLst>
                <a:path h="1076325">
                  <a:moveTo>
                    <a:pt x="0" y="1075883"/>
                  </a:moveTo>
                  <a:lnTo>
                    <a:pt x="0" y="0"/>
                  </a:lnTo>
                </a:path>
              </a:pathLst>
            </a:custGeom>
            <a:ln w="23559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045383" y="6266824"/>
              <a:ext cx="0" cy="1076325"/>
            </a:xfrm>
            <a:custGeom>
              <a:avLst/>
              <a:gdLst/>
              <a:ahLst/>
              <a:cxnLst/>
              <a:rect l="l" t="t" r="r" b="b"/>
              <a:pathLst>
                <a:path h="1076325">
                  <a:moveTo>
                    <a:pt x="0" y="1075883"/>
                  </a:moveTo>
                  <a:lnTo>
                    <a:pt x="0" y="0"/>
                  </a:lnTo>
                </a:path>
              </a:pathLst>
            </a:custGeom>
            <a:ln w="23559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266641" y="6278604"/>
              <a:ext cx="1790700" cy="0"/>
            </a:xfrm>
            <a:custGeom>
              <a:avLst/>
              <a:gdLst/>
              <a:ahLst/>
              <a:cxnLst/>
              <a:rect l="l" t="t" r="r" b="b"/>
              <a:pathLst>
                <a:path w="1790700">
                  <a:moveTo>
                    <a:pt x="0" y="0"/>
                  </a:moveTo>
                  <a:lnTo>
                    <a:pt x="1790521" y="0"/>
                  </a:lnTo>
                </a:path>
              </a:pathLst>
            </a:custGeom>
            <a:ln w="23559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266641" y="7330928"/>
              <a:ext cx="1790700" cy="0"/>
            </a:xfrm>
            <a:custGeom>
              <a:avLst/>
              <a:gdLst/>
              <a:ahLst/>
              <a:cxnLst/>
              <a:rect l="l" t="t" r="r" b="b"/>
              <a:pathLst>
                <a:path w="1790700">
                  <a:moveTo>
                    <a:pt x="0" y="0"/>
                  </a:moveTo>
                  <a:lnTo>
                    <a:pt x="1790521" y="0"/>
                  </a:lnTo>
                </a:path>
              </a:pathLst>
            </a:custGeom>
            <a:ln w="23559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096429" y="6773354"/>
              <a:ext cx="1335405" cy="0"/>
            </a:xfrm>
            <a:custGeom>
              <a:avLst/>
              <a:gdLst/>
              <a:ahLst/>
              <a:cxnLst/>
              <a:rect l="l" t="t" r="r" b="b"/>
              <a:pathLst>
                <a:path w="1335405">
                  <a:moveTo>
                    <a:pt x="0" y="0"/>
                  </a:moveTo>
                  <a:lnTo>
                    <a:pt x="1335037" y="0"/>
                  </a:lnTo>
                </a:path>
              </a:pathLst>
            </a:custGeom>
            <a:ln w="23559">
              <a:solidFill>
                <a:srgbClr val="5454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143639" y="6773354"/>
              <a:ext cx="1154430" cy="0"/>
            </a:xfrm>
            <a:custGeom>
              <a:avLst/>
              <a:gdLst/>
              <a:ahLst/>
              <a:cxnLst/>
              <a:rect l="l" t="t" r="r" b="b"/>
              <a:pathLst>
                <a:path w="1154429">
                  <a:moveTo>
                    <a:pt x="0" y="0"/>
                  </a:moveTo>
                  <a:lnTo>
                    <a:pt x="1154415" y="0"/>
                  </a:lnTo>
                </a:path>
              </a:pathLst>
            </a:custGeom>
            <a:ln w="23559">
              <a:solidFill>
                <a:srgbClr val="5454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575380" y="6773354"/>
              <a:ext cx="1068070" cy="0"/>
            </a:xfrm>
            <a:custGeom>
              <a:avLst/>
              <a:gdLst/>
              <a:ahLst/>
              <a:cxnLst/>
              <a:rect l="l" t="t" r="r" b="b"/>
              <a:pathLst>
                <a:path w="1068069">
                  <a:moveTo>
                    <a:pt x="0" y="0"/>
                  </a:moveTo>
                  <a:lnTo>
                    <a:pt x="1068030" y="0"/>
                  </a:lnTo>
                </a:path>
              </a:pathLst>
            </a:custGeom>
            <a:ln w="23559">
              <a:solidFill>
                <a:srgbClr val="3838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1020911" y="1833713"/>
            <a:ext cx="18125440" cy="0"/>
          </a:xfrm>
          <a:custGeom>
            <a:avLst/>
            <a:gdLst/>
            <a:ahLst/>
            <a:cxnLst/>
            <a:rect l="l" t="t" r="r" b="b"/>
            <a:pathLst>
              <a:path w="18125440">
                <a:moveTo>
                  <a:pt x="0" y="0"/>
                </a:moveTo>
                <a:lnTo>
                  <a:pt x="18125103" y="0"/>
                </a:lnTo>
              </a:path>
            </a:pathLst>
          </a:custGeom>
          <a:ln w="23559">
            <a:solidFill>
              <a:srgbClr val="7C030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sz="3350" spc="250" dirty="0">
                <a:solidFill>
                  <a:srgbClr val="081634"/>
                </a:solidFill>
              </a:rPr>
              <a:t>CRYPTOGRAPHIC</a:t>
            </a:r>
            <a:r>
              <a:rPr sz="3350" spc="785" dirty="0">
                <a:solidFill>
                  <a:srgbClr val="081634"/>
                </a:solidFill>
              </a:rPr>
              <a:t> </a:t>
            </a:r>
            <a:r>
              <a:rPr sz="3350" spc="270" dirty="0">
                <a:solidFill>
                  <a:srgbClr val="181818"/>
                </a:solidFill>
              </a:rPr>
              <a:t>ARCHITECTURE</a:t>
            </a:r>
            <a:r>
              <a:rPr sz="3350" spc="100" dirty="0">
                <a:solidFill>
                  <a:srgbClr val="181818"/>
                </a:solidFill>
              </a:rPr>
              <a:t>  </a:t>
            </a:r>
            <a:r>
              <a:rPr sz="3350" spc="50" dirty="0">
                <a:solidFill>
                  <a:srgbClr val="182144"/>
                </a:solidFill>
              </a:rPr>
              <a:t>&amp;</a:t>
            </a:r>
            <a:r>
              <a:rPr sz="3350" spc="430" dirty="0">
                <a:solidFill>
                  <a:srgbClr val="182144"/>
                </a:solidFill>
              </a:rPr>
              <a:t> </a:t>
            </a:r>
            <a:r>
              <a:rPr sz="3350" spc="260" dirty="0">
                <a:solidFill>
                  <a:srgbClr val="010F23"/>
                </a:solidFill>
              </a:rPr>
              <a:t>FLOW</a:t>
            </a:r>
            <a:endParaRPr sz="3350"/>
          </a:p>
        </p:txBody>
      </p:sp>
      <p:sp>
        <p:nvSpPr>
          <p:cNvPr id="17" name="object 17"/>
          <p:cNvSpPr txBox="1"/>
          <p:nvPr/>
        </p:nvSpPr>
        <p:spPr>
          <a:xfrm>
            <a:off x="977858" y="3449891"/>
            <a:ext cx="4497705" cy="516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200" spc="80" dirty="0">
                <a:solidFill>
                  <a:srgbClr val="990300"/>
                </a:solidFill>
                <a:latin typeface="Times New Roman" panose="02020603050405020304"/>
                <a:cs typeface="Times New Roman" panose="02020603050405020304"/>
              </a:rPr>
              <a:t>Mathematical</a:t>
            </a:r>
            <a:r>
              <a:rPr sz="3200" spc="400" dirty="0">
                <a:solidFill>
                  <a:srgbClr val="9903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200" spc="85" dirty="0">
                <a:solidFill>
                  <a:srgbClr val="8E0000"/>
                </a:solidFill>
                <a:latin typeface="Times New Roman" panose="02020603050405020304"/>
                <a:cs typeface="Times New Roman" panose="02020603050405020304"/>
              </a:rPr>
              <a:t>Encryption</a:t>
            </a:r>
            <a:endParaRPr sz="3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77602" y="4249604"/>
            <a:ext cx="8764905" cy="1015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 marR="5080" indent="-6985">
              <a:lnSpc>
                <a:spcPct val="120000"/>
              </a:lnSpc>
              <a:spcBef>
                <a:spcPts val="100"/>
              </a:spcBef>
            </a:pPr>
            <a:r>
              <a:rPr sz="2700" dirty="0">
                <a:latin typeface="Times New Roman" panose="02020603050405020304"/>
                <a:cs typeface="Times New Roman" panose="02020603050405020304"/>
              </a:rPr>
              <a:t>Ensures</a:t>
            </a:r>
            <a:r>
              <a:rPr sz="27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dirty="0">
                <a:latin typeface="Times New Roman" panose="02020603050405020304"/>
                <a:cs typeface="Times New Roman" panose="02020603050405020304"/>
              </a:rPr>
              <a:t>confidentiality</a:t>
            </a:r>
            <a:r>
              <a:rPr sz="2700" spc="-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dirty="0">
                <a:solidFill>
                  <a:srgbClr val="050505"/>
                </a:solidFill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2700" spc="-15" dirty="0">
                <a:solidFill>
                  <a:srgbClr val="05050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dirty="0">
                <a:latin typeface="Times New Roman" panose="02020603050405020304"/>
                <a:cs typeface="Times New Roman" panose="02020603050405020304"/>
              </a:rPr>
              <a:t>transforming</a:t>
            </a:r>
            <a:r>
              <a:rPr sz="2700"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dirty="0">
                <a:latin typeface="Times New Roman" panose="02020603050405020304"/>
                <a:cs typeface="Times New Roman" panose="02020603050405020304"/>
              </a:rPr>
              <a:t>readable</a:t>
            </a:r>
            <a:r>
              <a:rPr sz="2700" spc="1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dirty="0">
                <a:latin typeface="Times New Roman" panose="02020603050405020304"/>
                <a:cs typeface="Times New Roman" panose="02020603050405020304"/>
              </a:rPr>
              <a:t>plain</a:t>
            </a:r>
            <a:r>
              <a:rPr sz="27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dirty="0">
                <a:latin typeface="Times New Roman" panose="02020603050405020304"/>
                <a:cs typeface="Times New Roman" panose="02020603050405020304"/>
              </a:rPr>
              <a:t>states</a:t>
            </a:r>
            <a:r>
              <a:rPr sz="270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spc="-2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2700" dirty="0">
                <a:latin typeface="Times New Roman" panose="02020603050405020304"/>
                <a:cs typeface="Times New Roman" panose="02020603050405020304"/>
              </a:rPr>
              <a:t>unreadable</a:t>
            </a:r>
            <a:r>
              <a:rPr sz="270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dirty="0">
                <a:latin typeface="Times New Roman" panose="02020603050405020304"/>
                <a:cs typeface="Times New Roman" panose="02020603050405020304"/>
              </a:rPr>
              <a:t>cipher</a:t>
            </a:r>
            <a:r>
              <a:rPr sz="27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spc="-10" dirty="0">
                <a:latin typeface="Times New Roman" panose="02020603050405020304"/>
                <a:cs typeface="Times New Roman" panose="02020603050405020304"/>
              </a:rPr>
              <a:t>states.</a:t>
            </a:r>
            <a:endParaRPr sz="2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36540" y="5568936"/>
            <a:ext cx="8154670" cy="3425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7345" marR="247015" indent="-335280">
              <a:lnSpc>
                <a:spcPct val="124000"/>
              </a:lnSpc>
              <a:spcBef>
                <a:spcPts val="95"/>
              </a:spcBef>
              <a:buClr>
                <a:srgbClr val="0F0F0F"/>
              </a:buClr>
              <a:buChar char="•"/>
              <a:tabLst>
                <a:tab pos="354330" algn="l"/>
              </a:tabLst>
            </a:pPr>
            <a:r>
              <a:rPr sz="2700" dirty="0">
                <a:latin typeface="Times New Roman" panose="02020603050405020304"/>
                <a:cs typeface="Times New Roman" panose="02020603050405020304"/>
              </a:rPr>
              <a:t>Key</a:t>
            </a:r>
            <a:r>
              <a:rPr sz="2700" spc="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dirty="0">
                <a:latin typeface="Times New Roman" panose="02020603050405020304"/>
                <a:cs typeface="Times New Roman" panose="02020603050405020304"/>
              </a:rPr>
              <a:t>Dependency:</a:t>
            </a:r>
            <a:r>
              <a:rPr sz="2700" spc="3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dirty="0">
                <a:latin typeface="Times New Roman" panose="02020603050405020304"/>
                <a:cs typeface="Times New Roman" panose="02020603050405020304"/>
              </a:rPr>
              <a:t>Uses</a:t>
            </a:r>
            <a:r>
              <a:rPr sz="27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dirty="0">
                <a:latin typeface="Times New Roman" panose="02020603050405020304"/>
                <a:cs typeface="Times New Roman" panose="02020603050405020304"/>
              </a:rPr>
              <a:t>symmetric</a:t>
            </a:r>
            <a:r>
              <a:rPr sz="2700" spc="2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dirty="0">
                <a:latin typeface="Times New Roman" panose="02020603050405020304"/>
                <a:cs typeface="Times New Roman" panose="02020603050405020304"/>
              </a:rPr>
              <a:t>or</a:t>
            </a:r>
            <a:r>
              <a:rPr sz="2700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dirty="0">
                <a:latin typeface="Times New Roman" panose="02020603050405020304"/>
                <a:cs typeface="Times New Roman" panose="02020603050405020304"/>
              </a:rPr>
              <a:t>asymmetric</a:t>
            </a:r>
            <a:r>
              <a:rPr sz="2700" spc="2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spc="-25" dirty="0">
                <a:solidFill>
                  <a:srgbClr val="0F0F0F"/>
                </a:solidFill>
                <a:latin typeface="Times New Roman" panose="02020603050405020304"/>
                <a:cs typeface="Times New Roman" panose="02020603050405020304"/>
              </a:rPr>
              <a:t>key 	</a:t>
            </a:r>
            <a:r>
              <a:rPr sz="2700" spc="-10" dirty="0">
                <a:latin typeface="Times New Roman" panose="02020603050405020304"/>
                <a:cs typeface="Times New Roman" panose="02020603050405020304"/>
              </a:rPr>
              <a:t>parameters.</a:t>
            </a:r>
            <a:endParaRPr sz="2700">
              <a:latin typeface="Times New Roman" panose="02020603050405020304"/>
              <a:cs typeface="Times New Roman" panose="02020603050405020304"/>
            </a:endParaRPr>
          </a:p>
          <a:p>
            <a:pPr marL="338455" marR="5080" indent="-326390">
              <a:lnSpc>
                <a:spcPct val="122000"/>
              </a:lnSpc>
              <a:spcBef>
                <a:spcPts val="1425"/>
              </a:spcBef>
              <a:buClr>
                <a:srgbClr val="111111"/>
              </a:buClr>
              <a:buChar char="•"/>
              <a:tabLst>
                <a:tab pos="347345" algn="l"/>
              </a:tabLst>
            </a:pPr>
            <a:r>
              <a:rPr sz="2700" spc="120" dirty="0">
                <a:latin typeface="Times New Roman" panose="02020603050405020304"/>
                <a:cs typeface="Times New Roman" panose="02020603050405020304"/>
              </a:rPr>
              <a:t>Structure:</a:t>
            </a:r>
            <a:r>
              <a:rPr sz="27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dirty="0">
                <a:latin typeface="Times New Roman" panose="02020603050405020304"/>
                <a:cs typeface="Times New Roman" panose="02020603050405020304"/>
              </a:rPr>
              <a:t>Relies</a:t>
            </a:r>
            <a:r>
              <a:rPr sz="27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dirty="0">
                <a:solidFill>
                  <a:srgbClr val="080808"/>
                </a:solidFill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2700" spc="15" dirty="0">
                <a:solidFill>
                  <a:srgbClr val="08080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dirty="0">
                <a:latin typeface="Times New Roman" panose="02020603050405020304"/>
                <a:cs typeface="Times New Roman" panose="02020603050405020304"/>
              </a:rPr>
              <a:t>mathematical</a:t>
            </a:r>
            <a:r>
              <a:rPr sz="270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dirty="0">
                <a:latin typeface="Times New Roman" panose="02020603050405020304"/>
                <a:cs typeface="Times New Roman" panose="02020603050405020304"/>
              </a:rPr>
              <a:t>equations</a:t>
            </a:r>
            <a:r>
              <a:rPr sz="27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dirty="0">
                <a:solidFill>
                  <a:srgbClr val="080808"/>
                </a:solidFill>
                <a:latin typeface="Times New Roman" panose="02020603050405020304"/>
                <a:cs typeface="Times New Roman" panose="02020603050405020304"/>
              </a:rPr>
              <a:t>($C</a:t>
            </a:r>
            <a:r>
              <a:rPr sz="2700" spc="70" dirty="0">
                <a:solidFill>
                  <a:srgbClr val="08080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dirty="0">
                <a:latin typeface="Times New Roman" panose="02020603050405020304"/>
                <a:cs typeface="Times New Roman" panose="02020603050405020304"/>
              </a:rPr>
              <a:t>=</a:t>
            </a:r>
            <a:r>
              <a:rPr sz="27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spc="-65" dirty="0">
                <a:solidFill>
                  <a:srgbClr val="050505"/>
                </a:solidFill>
                <a:latin typeface="Times New Roman" panose="02020603050405020304"/>
                <a:cs typeface="Times New Roman" panose="02020603050405020304"/>
              </a:rPr>
              <a:t>E(P, 	</a:t>
            </a:r>
            <a:r>
              <a:rPr sz="2700" spc="-10" dirty="0">
                <a:latin typeface="Times New Roman" panose="02020603050405020304"/>
                <a:cs typeface="Times New Roman" panose="02020603050405020304"/>
              </a:rPr>
              <a:t>K)$).</a:t>
            </a:r>
            <a:endParaRPr sz="2700">
              <a:latin typeface="Times New Roman" panose="02020603050405020304"/>
              <a:cs typeface="Times New Roman" panose="02020603050405020304"/>
            </a:endParaRPr>
          </a:p>
          <a:p>
            <a:pPr marL="341630" marR="337820" indent="-329565">
              <a:lnSpc>
                <a:spcPct val="122000"/>
              </a:lnSpc>
              <a:spcBef>
                <a:spcPts val="1485"/>
              </a:spcBef>
              <a:buClr>
                <a:srgbClr val="0F0F0F"/>
              </a:buClr>
              <a:buChar char="•"/>
              <a:tabLst>
                <a:tab pos="349885" algn="l"/>
              </a:tabLst>
            </a:pPr>
            <a:r>
              <a:rPr sz="2700" spc="70" dirty="0">
                <a:latin typeface="Times New Roman" panose="02020603050405020304"/>
                <a:cs typeface="Times New Roman" panose="02020603050405020304"/>
              </a:rPr>
              <a:t>Alert</a:t>
            </a:r>
            <a:r>
              <a:rPr sz="27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spc="105" dirty="0">
                <a:latin typeface="Times New Roman" panose="02020603050405020304"/>
                <a:cs typeface="Times New Roman" panose="02020603050405020304"/>
              </a:rPr>
              <a:t>Factor:</a:t>
            </a:r>
            <a:r>
              <a:rPr sz="270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dirty="0">
                <a:solidFill>
                  <a:srgbClr val="050505"/>
                </a:solidFill>
                <a:latin typeface="Times New Roman" panose="02020603050405020304"/>
                <a:cs typeface="Times New Roman" panose="02020603050405020304"/>
              </a:rPr>
              <a:t>Highly</a:t>
            </a:r>
            <a:r>
              <a:rPr sz="2700" spc="60" dirty="0">
                <a:solidFill>
                  <a:srgbClr val="05050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dirty="0">
                <a:latin typeface="Times New Roman" panose="02020603050405020304"/>
                <a:cs typeface="Times New Roman" panose="02020603050405020304"/>
              </a:rPr>
              <a:t>scrambled</a:t>
            </a:r>
            <a:r>
              <a:rPr sz="2700" spc="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dirty="0">
                <a:latin typeface="Times New Roman" panose="02020603050405020304"/>
                <a:cs typeface="Times New Roman" panose="02020603050405020304"/>
              </a:rPr>
              <a:t>ciphertext</a:t>
            </a:r>
            <a:r>
              <a:rPr sz="2700" spc="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dirty="0">
                <a:latin typeface="Times New Roman" panose="02020603050405020304"/>
                <a:cs typeface="Times New Roman" panose="02020603050405020304"/>
              </a:rPr>
              <a:t>can</a:t>
            </a:r>
            <a:r>
              <a:rPr sz="27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spc="-10" dirty="0">
                <a:latin typeface="Times New Roman" panose="02020603050405020304"/>
                <a:cs typeface="Times New Roman" panose="02020603050405020304"/>
              </a:rPr>
              <a:t>attract 	</a:t>
            </a:r>
            <a:r>
              <a:rPr sz="2700" dirty="0">
                <a:latin typeface="Times New Roman" panose="02020603050405020304"/>
                <a:cs typeface="Times New Roman" panose="02020603050405020304"/>
              </a:rPr>
              <a:t>targeted </a:t>
            </a:r>
            <a:r>
              <a:rPr sz="2700" spc="-10" dirty="0">
                <a:latin typeface="Times New Roman" panose="02020603050405020304"/>
                <a:cs typeface="Times New Roman" panose="02020603050405020304"/>
              </a:rPr>
              <a:t>attacks.</a:t>
            </a:r>
            <a:endParaRPr sz="2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397216" y="5001545"/>
            <a:ext cx="1519555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sz="2300" spc="-240" dirty="0">
                <a:solidFill>
                  <a:srgbClr val="181818"/>
                </a:solidFill>
                <a:latin typeface="Arial MT"/>
                <a:cs typeface="Arial MT"/>
              </a:rPr>
              <a:t>encryption</a:t>
            </a:r>
            <a:r>
              <a:rPr sz="2300" spc="125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2300" spc="-300" dirty="0">
                <a:solidFill>
                  <a:srgbClr val="1A1A1A"/>
                </a:solidFill>
                <a:latin typeface="Arial MT"/>
                <a:cs typeface="Arial MT"/>
              </a:rPr>
              <a:t>key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853613" y="5001545"/>
            <a:ext cx="1522730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sz="2300" spc="-135" dirty="0">
                <a:solidFill>
                  <a:srgbClr val="181818"/>
                </a:solidFill>
                <a:latin typeface="Times New Roman" panose="02020603050405020304"/>
                <a:cs typeface="Times New Roman" panose="02020603050405020304"/>
              </a:rPr>
              <a:t>decryption</a:t>
            </a:r>
            <a:r>
              <a:rPr sz="2300" spc="75" dirty="0">
                <a:solidFill>
                  <a:srgbClr val="18181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spc="-180" dirty="0">
                <a:solidFill>
                  <a:srgbClr val="181818"/>
                </a:solidFill>
                <a:latin typeface="Times New Roman" panose="02020603050405020304"/>
                <a:cs typeface="Times New Roman" panose="02020603050405020304"/>
              </a:rPr>
              <a:t>key</a:t>
            </a:r>
            <a:endParaRPr sz="2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100667" y="6258051"/>
            <a:ext cx="866775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sz="2300" spc="-204" dirty="0">
                <a:solidFill>
                  <a:srgbClr val="0F0F0F"/>
                </a:solidFill>
                <a:latin typeface="Arial MT"/>
                <a:cs typeface="Arial MT"/>
              </a:rPr>
              <a:t>plaintext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367637" y="6258051"/>
            <a:ext cx="1007110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sz="2300" spc="-215" dirty="0">
                <a:solidFill>
                  <a:srgbClr val="111111"/>
                </a:solidFill>
                <a:latin typeface="Arial MT"/>
                <a:cs typeface="Arial MT"/>
              </a:rPr>
              <a:t>ciphertext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720884" y="6258051"/>
            <a:ext cx="866775" cy="3790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sz="2300" spc="-204" dirty="0">
                <a:solidFill>
                  <a:srgbClr val="1D1D1D"/>
                </a:solidFill>
                <a:latin typeface="Arial MT"/>
                <a:cs typeface="Arial MT"/>
              </a:rPr>
              <a:t>plaintext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612441" y="6470086"/>
            <a:ext cx="1111885" cy="67754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67310" marR="5080" indent="-67945">
              <a:lnSpc>
                <a:spcPts val="2350"/>
              </a:lnSpc>
              <a:spcBef>
                <a:spcPts val="535"/>
              </a:spcBef>
            </a:pPr>
            <a:r>
              <a:rPr sz="2300" spc="-229" dirty="0">
                <a:solidFill>
                  <a:srgbClr val="0E0E0E"/>
                </a:solidFill>
                <a:latin typeface="Arial MT"/>
                <a:cs typeface="Arial MT"/>
              </a:rPr>
              <a:t>Encryption </a:t>
            </a:r>
            <a:r>
              <a:rPr sz="2300" spc="-160" dirty="0">
                <a:latin typeface="Arial MT"/>
                <a:cs typeface="Arial MT"/>
              </a:rPr>
              <a:t>algorithm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757373" y="6286457"/>
            <a:ext cx="1767205" cy="1060450"/>
          </a:xfrm>
          <a:prstGeom prst="rect">
            <a:avLst/>
          </a:prstGeom>
          <a:ln w="23559">
            <a:solidFill>
              <a:srgbClr val="2F2F2F"/>
            </a:solidFill>
          </a:ln>
        </p:spPr>
        <p:txBody>
          <a:bodyPr vert="horz" wrap="square" lIns="0" tIns="252095" rIns="0" bIns="0" rtlCol="0">
            <a:spAutoFit/>
          </a:bodyPr>
          <a:lstStyle/>
          <a:p>
            <a:pPr marL="408940" marR="328295" indent="-90805">
              <a:lnSpc>
                <a:spcPts val="2350"/>
              </a:lnSpc>
              <a:spcBef>
                <a:spcPts val="1985"/>
              </a:spcBef>
            </a:pPr>
            <a:r>
              <a:rPr sz="2300" spc="-225" dirty="0">
                <a:solidFill>
                  <a:srgbClr val="1C1C1C"/>
                </a:solidFill>
                <a:latin typeface="Arial MT"/>
                <a:cs typeface="Arial MT"/>
              </a:rPr>
              <a:t>Decryption </a:t>
            </a:r>
            <a:r>
              <a:rPr sz="2300" spc="-165" dirty="0">
                <a:solidFill>
                  <a:srgbClr val="080808"/>
                </a:solidFill>
                <a:latin typeface="Arial MT"/>
                <a:cs typeface="Arial MT"/>
              </a:rPr>
              <a:t>algorithm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2749" y="763454"/>
            <a:ext cx="11529695" cy="1057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4000"/>
              </a:lnSpc>
              <a:spcBef>
                <a:spcPts val="100"/>
              </a:spcBef>
            </a:pPr>
            <a:r>
              <a:rPr sz="3350" spc="-215" dirty="0">
                <a:latin typeface="Arial MT"/>
                <a:cs typeface="Arial MT"/>
              </a:rPr>
              <a:t>Original</a:t>
            </a:r>
            <a:r>
              <a:rPr sz="3350" spc="10" dirty="0">
                <a:latin typeface="Arial MT"/>
                <a:cs typeface="Arial MT"/>
              </a:rPr>
              <a:t> </a:t>
            </a:r>
            <a:r>
              <a:rPr sz="3350" spc="-20" dirty="0">
                <a:latin typeface="Arial MT"/>
                <a:cs typeface="Arial MT"/>
              </a:rPr>
              <a:t>Image</a:t>
            </a:r>
            <a:endParaRPr sz="3350">
              <a:latin typeface="Arial MT"/>
              <a:cs typeface="Arial MT"/>
            </a:endParaRPr>
          </a:p>
          <a:p>
            <a:pPr marL="12700">
              <a:lnSpc>
                <a:spcPts val="4120"/>
              </a:lnSpc>
            </a:pPr>
            <a:r>
              <a:rPr sz="3450" spc="135" dirty="0">
                <a:solidFill>
                  <a:srgbClr val="131313"/>
                </a:solidFill>
                <a:latin typeface="Times New Roman" panose="02020603050405020304"/>
                <a:cs typeface="Times New Roman" panose="02020603050405020304"/>
              </a:rPr>
              <a:t>STE</a:t>
            </a:r>
            <a:r>
              <a:rPr sz="3450" spc="-465" dirty="0">
                <a:solidFill>
                  <a:srgbClr val="131313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50" spc="120" dirty="0">
                <a:solidFill>
                  <a:srgbClr val="0C1A36"/>
                </a:solidFill>
                <a:latin typeface="Times New Roman" panose="02020603050405020304"/>
                <a:cs typeface="Times New Roman" panose="02020603050405020304"/>
              </a:rPr>
              <a:t>GANO</a:t>
            </a:r>
            <a:r>
              <a:rPr sz="3450" spc="-430" dirty="0">
                <a:solidFill>
                  <a:srgbClr val="0C1A3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50" spc="210" dirty="0">
                <a:solidFill>
                  <a:srgbClr val="0C1A36"/>
                </a:solidFill>
                <a:latin typeface="Times New Roman" panose="02020603050405020304"/>
                <a:cs typeface="Times New Roman" panose="02020603050405020304"/>
              </a:rPr>
              <a:t>GRAPHI</a:t>
            </a:r>
            <a:r>
              <a:rPr sz="3450" spc="-390" dirty="0">
                <a:solidFill>
                  <a:srgbClr val="0C1A36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50" dirty="0">
                <a:solidFill>
                  <a:srgbClr val="0A1631"/>
                </a:solidFill>
                <a:latin typeface="Times New Roman" panose="02020603050405020304"/>
                <a:cs typeface="Times New Roman" panose="02020603050405020304"/>
              </a:rPr>
              <a:t>C</a:t>
            </a:r>
            <a:r>
              <a:rPr sz="3450" spc="385" dirty="0">
                <a:solidFill>
                  <a:srgbClr val="0A1631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450" spc="195" dirty="0">
                <a:solidFill>
                  <a:srgbClr val="181818"/>
                </a:solidFill>
                <a:latin typeface="Times New Roman" panose="02020603050405020304"/>
                <a:cs typeface="Times New Roman" panose="02020603050405020304"/>
              </a:rPr>
              <a:t>MECHANISM</a:t>
            </a:r>
            <a:endParaRPr sz="34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3772" y="4108902"/>
            <a:ext cx="5181600" cy="535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50" spc="-45" dirty="0">
                <a:solidFill>
                  <a:srgbClr val="900F0A"/>
                </a:solidFill>
                <a:latin typeface="Times New Roman" panose="02020603050405020304"/>
                <a:cs typeface="Times New Roman" panose="02020603050405020304"/>
              </a:rPr>
              <a:t>Sub-</a:t>
            </a:r>
            <a:r>
              <a:rPr sz="3350" dirty="0">
                <a:solidFill>
                  <a:srgbClr val="900F0A"/>
                </a:solidFill>
                <a:latin typeface="Times New Roman" panose="02020603050405020304"/>
                <a:cs typeface="Times New Roman" panose="02020603050405020304"/>
              </a:rPr>
              <a:t>Visual</a:t>
            </a:r>
            <a:r>
              <a:rPr sz="3350" spc="150" dirty="0">
                <a:solidFill>
                  <a:srgbClr val="900F0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50" dirty="0">
                <a:solidFill>
                  <a:srgbClr val="910000"/>
                </a:solidFill>
                <a:latin typeface="Times New Roman" panose="02020603050405020304"/>
                <a:cs typeface="Times New Roman" panose="02020603050405020304"/>
              </a:rPr>
              <a:t>Cover</a:t>
            </a:r>
            <a:r>
              <a:rPr sz="3350" spc="-15" dirty="0">
                <a:solidFill>
                  <a:srgbClr val="91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50" spc="-10" dirty="0">
                <a:solidFill>
                  <a:srgbClr val="890000"/>
                </a:solidFill>
                <a:latin typeface="Times New Roman" panose="02020603050405020304"/>
                <a:cs typeface="Times New Roman" panose="02020603050405020304"/>
              </a:rPr>
              <a:t>Embedding</a:t>
            </a:r>
            <a:endParaRPr sz="33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8498" y="5124578"/>
            <a:ext cx="8118475" cy="1015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605" marR="5080" indent="-2540">
              <a:lnSpc>
                <a:spcPct val="116000"/>
              </a:lnSpc>
              <a:spcBef>
                <a:spcPts val="95"/>
              </a:spcBef>
            </a:pP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Hides</a:t>
            </a:r>
            <a:r>
              <a:rPr sz="2800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secret</a:t>
            </a:r>
            <a:r>
              <a:rPr sz="28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bits</a:t>
            </a:r>
            <a:r>
              <a:rPr sz="2800" spc="-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2800" spc="-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40" dirty="0">
                <a:latin typeface="Times New Roman" panose="02020603050405020304"/>
                <a:cs typeface="Times New Roman" panose="02020603050405020304"/>
              </a:rPr>
              <a:t>payload</a:t>
            </a:r>
            <a:r>
              <a:rPr sz="28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solidFill>
                  <a:srgbClr val="0A0A0A"/>
                </a:solidFill>
                <a:latin typeface="Times New Roman" panose="02020603050405020304"/>
                <a:cs typeface="Times New Roman" panose="02020603050405020304"/>
              </a:rPr>
              <a:t>inside</a:t>
            </a:r>
            <a:r>
              <a:rPr sz="2800" spc="-25" dirty="0">
                <a:solidFill>
                  <a:srgbClr val="0A0A0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75" dirty="0">
                <a:latin typeface="Times New Roman" panose="02020603050405020304"/>
                <a:cs typeface="Times New Roman" panose="02020603050405020304"/>
              </a:rPr>
              <a:t>non-</a:t>
            </a:r>
            <a:r>
              <a:rPr sz="2800" spc="-30" dirty="0">
                <a:latin typeface="Times New Roman" panose="02020603050405020304"/>
                <a:cs typeface="Times New Roman" panose="02020603050405020304"/>
              </a:rPr>
              <a:t>essential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bits</a:t>
            </a:r>
            <a:r>
              <a:rPr sz="2800" spc="-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40" dirty="0">
                <a:solidFill>
                  <a:srgbClr val="0A0A0A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800" spc="-30" dirty="0">
                <a:solidFill>
                  <a:srgbClr val="0A0A0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50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2800" spc="-25" dirty="0">
                <a:latin typeface="Times New Roman" panose="02020603050405020304"/>
                <a:cs typeface="Times New Roman" panose="02020603050405020304"/>
              </a:rPr>
              <a:t>digital</a:t>
            </a:r>
            <a:r>
              <a:rPr sz="2800" spc="-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cover</a:t>
            </a:r>
            <a:r>
              <a:rPr sz="2800" spc="-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image</a:t>
            </a:r>
            <a:r>
              <a:rPr sz="2800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(LSB</a:t>
            </a:r>
            <a:r>
              <a:rPr sz="2800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replacement).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71241" y="6710916"/>
            <a:ext cx="8730615" cy="1533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43535" marR="1323340" indent="-331470">
              <a:lnSpc>
                <a:spcPct val="118000"/>
              </a:lnSpc>
              <a:spcBef>
                <a:spcPts val="90"/>
              </a:spcBef>
              <a:buChar char="•"/>
              <a:tabLst>
                <a:tab pos="343535" algn="l"/>
                <a:tab pos="358775" algn="l"/>
              </a:tabLst>
            </a:pPr>
            <a:r>
              <a:rPr sz="2800" dirty="0">
                <a:solidFill>
                  <a:srgbClr val="0F0F0F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No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 Obvious</a:t>
            </a:r>
            <a:r>
              <a:rPr sz="2800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Alteration:</a:t>
            </a:r>
            <a:r>
              <a:rPr sz="2800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35" dirty="0">
                <a:solidFill>
                  <a:srgbClr val="050505"/>
                </a:solidFill>
                <a:latin typeface="Times New Roman" panose="02020603050405020304"/>
                <a:cs typeface="Times New Roman" panose="02020603050405020304"/>
              </a:rPr>
              <a:t>Change</a:t>
            </a:r>
            <a:r>
              <a:rPr sz="2800" spc="60" dirty="0">
                <a:solidFill>
                  <a:srgbClr val="05050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solidFill>
                  <a:srgbClr val="232849"/>
                </a:solidFill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2800" spc="-45" dirty="0">
                <a:solidFill>
                  <a:srgbClr val="23284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carrier</a:t>
            </a:r>
            <a:r>
              <a:rPr sz="28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20" dirty="0">
                <a:latin typeface="Times New Roman" panose="02020603050405020304"/>
                <a:cs typeface="Times New Roman" panose="02020603050405020304"/>
              </a:rPr>
              <a:t>bytes</a:t>
            </a:r>
            <a:r>
              <a:rPr sz="2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25" dirty="0">
                <a:solidFill>
                  <a:srgbClr val="050505"/>
                </a:solidFill>
                <a:latin typeface="Times New Roman" panose="02020603050405020304"/>
                <a:cs typeface="Times New Roman" panose="02020603050405020304"/>
              </a:rPr>
              <a:t>is </a:t>
            </a:r>
            <a:r>
              <a:rPr sz="2800" spc="-10" dirty="0">
                <a:latin typeface="Times New Roman" panose="02020603050405020304"/>
                <a:cs typeface="Times New Roman" panose="02020603050405020304"/>
              </a:rPr>
              <a:t>imperceptible.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347345" indent="-334645">
              <a:lnSpc>
                <a:spcPct val="100000"/>
              </a:lnSpc>
              <a:spcBef>
                <a:spcPts val="600"/>
              </a:spcBef>
              <a:buClr>
                <a:srgbClr val="0F0F0F"/>
              </a:buClr>
              <a:buChar char="•"/>
              <a:tabLst>
                <a:tab pos="347345" algn="l"/>
              </a:tabLst>
            </a:pPr>
            <a:r>
              <a:rPr sz="2800" dirty="0">
                <a:latin typeface="Times New Roman" panose="02020603050405020304"/>
                <a:cs typeface="Times New Roman" panose="02020603050405020304"/>
              </a:rPr>
              <a:t>Dynamic</a:t>
            </a:r>
            <a:r>
              <a:rPr sz="28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Capacity:</a:t>
            </a:r>
            <a:r>
              <a:rPr sz="2800" spc="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35" dirty="0">
                <a:latin typeface="Times New Roman" panose="02020603050405020304"/>
                <a:cs typeface="Times New Roman" panose="02020603050405020304"/>
              </a:rPr>
              <a:t>Depends</a:t>
            </a:r>
            <a:r>
              <a:rPr sz="280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2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10" dirty="0">
                <a:solidFill>
                  <a:srgbClr val="050505"/>
                </a:solidFill>
                <a:latin typeface="Times New Roman" panose="02020603050405020304"/>
                <a:cs typeface="Times New Roman" panose="02020603050405020304"/>
              </a:rPr>
              <a:t>host </a:t>
            </a:r>
            <a:r>
              <a:rPr sz="2800" spc="-30" dirty="0">
                <a:solidFill>
                  <a:srgbClr val="080808"/>
                </a:solidFill>
                <a:latin typeface="Times New Roman" panose="02020603050405020304"/>
                <a:cs typeface="Times New Roman" panose="02020603050405020304"/>
              </a:rPr>
              <a:t>resolution</a:t>
            </a:r>
            <a:r>
              <a:rPr sz="2800" spc="95" dirty="0">
                <a:solidFill>
                  <a:srgbClr val="08080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spc="-35" dirty="0">
                <a:latin typeface="Times New Roman" panose="02020603050405020304"/>
                <a:cs typeface="Times New Roman" panose="02020603050405020304"/>
              </a:rPr>
              <a:t>boundaries.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703043" y="1703870"/>
            <a:ext cx="2655570" cy="3594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551305" algn="l"/>
              </a:tabLst>
            </a:pP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11111111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200" spc="-25" dirty="0">
                <a:latin typeface="Times New Roman" panose="02020603050405020304"/>
                <a:cs typeface="Times New Roman" panose="02020603050405020304"/>
              </a:rPr>
              <a:t>88888888</a:t>
            </a:r>
            <a:endParaRPr sz="22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01119" y="3415205"/>
            <a:ext cx="2650490" cy="93662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0"/>
              </a:spcBef>
              <a:tabLst>
                <a:tab pos="1567180" algn="l"/>
              </a:tabLst>
            </a:pPr>
            <a:r>
              <a:rPr sz="2300" spc="-10" dirty="0">
                <a:latin typeface="Times New Roman" panose="02020603050405020304"/>
                <a:cs typeface="Times New Roman" panose="02020603050405020304"/>
              </a:rPr>
              <a:t>11111111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300" spc="70" dirty="0">
                <a:latin typeface="Times New Roman" panose="02020603050405020304"/>
                <a:cs typeface="Times New Roman" panose="02020603050405020304"/>
              </a:rPr>
              <a:t>tt88888t</a:t>
            </a:r>
            <a:endParaRPr sz="23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  <a:tabLst>
                <a:tab pos="1567180" algn="l"/>
              </a:tabLst>
            </a:pPr>
            <a:r>
              <a:rPr sz="2300" spc="-10" dirty="0">
                <a:latin typeface="Times New Roman" panose="02020603050405020304"/>
                <a:cs typeface="Times New Roman" panose="02020603050405020304"/>
              </a:rPr>
              <a:t>11111111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300" spc="145" dirty="0">
                <a:latin typeface="Times New Roman" panose="02020603050405020304"/>
                <a:cs typeface="Times New Roman" panose="02020603050405020304"/>
              </a:rPr>
              <a:t>tt8888tt</a:t>
            </a:r>
            <a:endParaRPr sz="23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76567" y="6472050"/>
            <a:ext cx="2127250" cy="555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450" spc="-330" dirty="0">
                <a:latin typeface="Arial MT"/>
                <a:cs typeface="Arial MT"/>
              </a:rPr>
              <a:t>Stego</a:t>
            </a:r>
            <a:r>
              <a:rPr sz="3450" spc="25" dirty="0">
                <a:latin typeface="Arial MT"/>
                <a:cs typeface="Arial MT"/>
              </a:rPr>
              <a:t> </a:t>
            </a:r>
            <a:r>
              <a:rPr sz="3450" spc="-325" dirty="0">
                <a:latin typeface="Arial MT"/>
                <a:cs typeface="Arial MT"/>
              </a:rPr>
              <a:t>Image</a:t>
            </a:r>
            <a:endParaRPr sz="3450">
              <a:latin typeface="Arial MT"/>
              <a:cs typeface="Arial MT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1684519" y="7500181"/>
          <a:ext cx="2720975" cy="3067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4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6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1795">
                <a:tc>
                  <a:txBody>
                    <a:bodyPr/>
                    <a:lstStyle/>
                    <a:p>
                      <a:pPr marL="31750">
                        <a:lnSpc>
                          <a:spcPts val="2560"/>
                        </a:lnSpc>
                      </a:pPr>
                      <a:r>
                        <a:rPr sz="2300" spc="-75" dirty="0">
                          <a:latin typeface="Arial MT"/>
                          <a:cs typeface="Arial MT"/>
                        </a:rPr>
                        <a:t>11111181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560"/>
                        </a:lnSpc>
                      </a:pPr>
                      <a:r>
                        <a:rPr sz="2300" spc="-75" dirty="0">
                          <a:latin typeface="Arial MT"/>
                          <a:cs typeface="Arial MT"/>
                        </a:rPr>
                        <a:t>00888811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300" spc="-110" dirty="0">
                          <a:latin typeface="Arial MT"/>
                          <a:cs typeface="Arial MT"/>
                        </a:rPr>
                        <a:t>88808818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300" spc="-75" dirty="0">
                          <a:latin typeface="Arial MT"/>
                          <a:cs typeface="Arial MT"/>
                        </a:rPr>
                        <a:t>00888881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3746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300" spc="-100" dirty="0">
                          <a:latin typeface="Arial MT"/>
                          <a:cs typeface="Arial MT"/>
                        </a:rPr>
                        <a:t>11111100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1606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23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2413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300" spc="-75" dirty="0">
                          <a:latin typeface="Arial MT"/>
                          <a:cs typeface="Arial MT"/>
                        </a:rPr>
                        <a:t>00088811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16065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300" spc="-75" dirty="0">
                          <a:latin typeface="Arial MT"/>
                          <a:cs typeface="Arial MT"/>
                        </a:rPr>
                        <a:t>11111181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300" spc="-75" dirty="0">
                          <a:latin typeface="Arial MT"/>
                          <a:cs typeface="Arial MT"/>
                        </a:rPr>
                        <a:t>00800801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3746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795">
                <a:tc>
                  <a:txBody>
                    <a:bodyPr/>
                    <a:lstStyle/>
                    <a:p>
                      <a:pPr marL="43815">
                        <a:lnSpc>
                          <a:spcPts val="2690"/>
                        </a:lnSpc>
                        <a:spcBef>
                          <a:spcPts val="295"/>
                        </a:spcBef>
                      </a:pPr>
                      <a:r>
                        <a:rPr sz="2300" spc="-85" dirty="0">
                          <a:latin typeface="Arial MT"/>
                          <a:cs typeface="Arial MT"/>
                        </a:rPr>
                        <a:t>80800001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 marR="62230" algn="r">
                        <a:lnSpc>
                          <a:spcPts val="2690"/>
                        </a:lnSpc>
                        <a:spcBef>
                          <a:spcPts val="295"/>
                        </a:spcBef>
                      </a:pPr>
                      <a:r>
                        <a:rPr sz="2300" spc="-100" dirty="0">
                          <a:latin typeface="Arial MT"/>
                          <a:cs typeface="Arial MT"/>
                        </a:rPr>
                        <a:t>11111100</a:t>
                      </a:r>
                      <a:endParaRPr sz="2300">
                        <a:latin typeface="Arial MT"/>
                        <a:cs typeface="Arial MT"/>
                      </a:endParaRPr>
                    </a:p>
                  </a:txBody>
                  <a:tcPr marL="0" marR="0" marT="3746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35" dirty="0">
                <a:solidFill>
                  <a:srgbClr val="05112A"/>
                </a:solidFill>
              </a:rPr>
              <a:t>STE</a:t>
            </a:r>
            <a:r>
              <a:rPr spc="-455" dirty="0">
                <a:solidFill>
                  <a:srgbClr val="05112A"/>
                </a:solidFill>
              </a:rPr>
              <a:t> </a:t>
            </a:r>
            <a:r>
              <a:rPr spc="120" dirty="0">
                <a:solidFill>
                  <a:srgbClr val="131313"/>
                </a:solidFill>
              </a:rPr>
              <a:t>GANO</a:t>
            </a:r>
            <a:r>
              <a:rPr spc="-420" dirty="0">
                <a:solidFill>
                  <a:srgbClr val="131313"/>
                </a:solidFill>
              </a:rPr>
              <a:t> </a:t>
            </a:r>
            <a:r>
              <a:rPr spc="180" dirty="0">
                <a:solidFill>
                  <a:srgbClr val="131313"/>
                </a:solidFill>
              </a:rPr>
              <a:t>GRAPHY</a:t>
            </a:r>
            <a:r>
              <a:rPr spc="350" dirty="0">
                <a:solidFill>
                  <a:srgbClr val="131313"/>
                </a:solidFill>
              </a:rPr>
              <a:t> </a:t>
            </a:r>
            <a:r>
              <a:rPr dirty="0">
                <a:solidFill>
                  <a:srgbClr val="0E1D3F"/>
                </a:solidFill>
              </a:rPr>
              <a:t>VS</a:t>
            </a:r>
            <a:r>
              <a:rPr spc="434" dirty="0">
                <a:solidFill>
                  <a:srgbClr val="0E1D3F"/>
                </a:solidFill>
              </a:rPr>
              <a:t> </a:t>
            </a:r>
            <a:r>
              <a:rPr spc="200" dirty="0">
                <a:solidFill>
                  <a:srgbClr val="131313"/>
                </a:solidFill>
              </a:rPr>
              <a:t>CRYPTOGRAPHY</a:t>
            </a:r>
            <a:r>
              <a:rPr spc="700" dirty="0">
                <a:solidFill>
                  <a:srgbClr val="131313"/>
                </a:solidFill>
              </a:rPr>
              <a:t> </a:t>
            </a:r>
            <a:r>
              <a:rPr spc="165" dirty="0">
                <a:solidFill>
                  <a:srgbClr val="131313"/>
                </a:solidFill>
              </a:rPr>
              <a:t>COMPARISON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77365" y="5258736"/>
            <a:ext cx="206248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120" dirty="0">
                <a:solidFill>
                  <a:srgbClr val="0A0A0A"/>
                </a:solidFill>
                <a:latin typeface="Times New Roman" panose="02020603050405020304"/>
                <a:cs typeface="Times New Roman" panose="02020603050405020304"/>
              </a:rPr>
              <a:t>Primary</a:t>
            </a:r>
            <a:r>
              <a:rPr sz="2700" spc="280" dirty="0">
                <a:solidFill>
                  <a:srgbClr val="0A0A0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spc="40" dirty="0">
                <a:solidFill>
                  <a:srgbClr val="080808"/>
                </a:solidFill>
                <a:latin typeface="Times New Roman" panose="02020603050405020304"/>
                <a:cs typeface="Times New Roman" panose="02020603050405020304"/>
              </a:rPr>
              <a:t>Goal</a:t>
            </a:r>
            <a:endParaRPr sz="2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78508" y="6153997"/>
            <a:ext cx="177800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140" dirty="0">
                <a:latin typeface="Times New Roman" panose="02020603050405020304"/>
                <a:cs typeface="Times New Roman" panose="02020603050405020304"/>
              </a:rPr>
              <a:t>Carrier</a:t>
            </a:r>
            <a:r>
              <a:rPr sz="2700" spc="1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spc="-20" dirty="0">
                <a:latin typeface="Times New Roman" panose="02020603050405020304"/>
                <a:cs typeface="Times New Roman" panose="02020603050405020304"/>
              </a:rPr>
              <a:t>File</a:t>
            </a:r>
            <a:endParaRPr sz="2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72196" y="7049257"/>
            <a:ext cx="133667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10" dirty="0">
                <a:latin typeface="Times New Roman" panose="02020603050405020304"/>
                <a:cs typeface="Times New Roman" panose="02020603050405020304"/>
              </a:rPr>
              <a:t>Visibility</a:t>
            </a:r>
            <a:endParaRPr sz="2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89820" y="5258736"/>
            <a:ext cx="375031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dirty="0">
                <a:latin typeface="Times New Roman" panose="02020603050405020304"/>
                <a:cs typeface="Times New Roman" panose="02020603050405020304"/>
              </a:rPr>
              <a:t>Prevent</a:t>
            </a:r>
            <a:r>
              <a:rPr sz="27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dirty="0">
                <a:latin typeface="Times New Roman" panose="02020603050405020304"/>
                <a:cs typeface="Times New Roman" panose="02020603050405020304"/>
              </a:rPr>
              <a:t>readability</a:t>
            </a:r>
            <a:r>
              <a:rPr sz="27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7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spc="-20" dirty="0">
                <a:latin typeface="Times New Roman" panose="02020603050405020304"/>
                <a:cs typeface="Times New Roman" panose="02020603050405020304"/>
              </a:rPr>
              <a:t>data.</a:t>
            </a:r>
            <a:endParaRPr sz="2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68982" y="6178210"/>
            <a:ext cx="5153025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dirty="0">
                <a:latin typeface="Cambria" panose="02040503050406030204"/>
                <a:cs typeface="Cambria" panose="02040503050406030204"/>
              </a:rPr>
              <a:t>Not</a:t>
            </a:r>
            <a:r>
              <a:rPr sz="2550" spc="35" dirty="0">
                <a:latin typeface="Cambria" panose="02040503050406030204"/>
                <a:cs typeface="Cambria" panose="02040503050406030204"/>
              </a:rPr>
              <a:t> </a:t>
            </a:r>
            <a:r>
              <a:rPr sz="2550" spc="-55" dirty="0">
                <a:latin typeface="Cambria" panose="02040503050406030204"/>
                <a:cs typeface="Cambria" panose="02040503050406030204"/>
              </a:rPr>
              <a:t>required</a:t>
            </a:r>
            <a:r>
              <a:rPr sz="2550" dirty="0">
                <a:latin typeface="Cambria" panose="02040503050406030204"/>
                <a:cs typeface="Cambria" panose="02040503050406030204"/>
              </a:rPr>
              <a:t> </a:t>
            </a:r>
            <a:r>
              <a:rPr sz="2550" spc="-30" dirty="0">
                <a:latin typeface="Cambria" panose="02040503050406030204"/>
                <a:cs typeface="Cambria" panose="02040503050406030204"/>
              </a:rPr>
              <a:t>(scrambles</a:t>
            </a:r>
            <a:r>
              <a:rPr sz="2550" spc="160" dirty="0">
                <a:latin typeface="Cambria" panose="02040503050406030204"/>
                <a:cs typeface="Cambria" panose="02040503050406030204"/>
              </a:rPr>
              <a:t> </a:t>
            </a:r>
            <a:r>
              <a:rPr sz="2550" spc="-25" dirty="0">
                <a:latin typeface="Cambria" panose="02040503050406030204"/>
                <a:cs typeface="Cambria" panose="02040503050406030204"/>
              </a:rPr>
              <a:t>source</a:t>
            </a:r>
            <a:r>
              <a:rPr sz="2550" spc="120" dirty="0">
                <a:latin typeface="Cambria" panose="02040503050406030204"/>
                <a:cs typeface="Cambria" panose="02040503050406030204"/>
              </a:rPr>
              <a:t> </a:t>
            </a:r>
            <a:r>
              <a:rPr sz="2550" spc="-10" dirty="0">
                <a:latin typeface="Cambria" panose="02040503050406030204"/>
                <a:cs typeface="Cambria" panose="02040503050406030204"/>
              </a:rPr>
              <a:t>text).</a:t>
            </a:r>
            <a:endParaRPr sz="255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81907" y="7049257"/>
            <a:ext cx="592772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dirty="0">
                <a:latin typeface="Times New Roman" panose="02020603050405020304"/>
                <a:cs typeface="Times New Roman" panose="02020603050405020304"/>
              </a:rPr>
              <a:t>Scrambled</a:t>
            </a:r>
            <a:r>
              <a:rPr sz="27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dirty="0">
                <a:latin typeface="Times New Roman" panose="02020603050405020304"/>
                <a:cs typeface="Times New Roman" panose="02020603050405020304"/>
              </a:rPr>
              <a:t>text</a:t>
            </a:r>
            <a:r>
              <a:rPr sz="27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dirty="0">
                <a:solidFill>
                  <a:srgbClr val="080808"/>
                </a:solidFill>
                <a:latin typeface="Times New Roman" panose="02020603050405020304"/>
                <a:cs typeface="Times New Roman" panose="02020603050405020304"/>
              </a:rPr>
              <a:t>draws</a:t>
            </a:r>
            <a:r>
              <a:rPr sz="2700" spc="-70" dirty="0">
                <a:solidFill>
                  <a:srgbClr val="080808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dirty="0">
                <a:latin typeface="Times New Roman" panose="02020603050405020304"/>
                <a:cs typeface="Times New Roman" panose="02020603050405020304"/>
              </a:rPr>
              <a:t>immediate</a:t>
            </a:r>
            <a:r>
              <a:rPr sz="2700" spc="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spc="-10" dirty="0">
                <a:latin typeface="Times New Roman" panose="02020603050405020304"/>
                <a:cs typeface="Times New Roman" panose="02020603050405020304"/>
              </a:rPr>
              <a:t>attention.</a:t>
            </a:r>
            <a:endParaRPr sz="2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77365" y="7928812"/>
            <a:ext cx="260413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dirty="0">
                <a:latin typeface="Times New Roman" panose="02020603050405020304"/>
                <a:cs typeface="Times New Roman" panose="02020603050405020304"/>
              </a:rPr>
              <a:t>Key</a:t>
            </a:r>
            <a:r>
              <a:rPr sz="2700" spc="1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spc="70" dirty="0">
                <a:latin typeface="Times New Roman" panose="02020603050405020304"/>
                <a:cs typeface="Times New Roman" panose="02020603050405020304"/>
              </a:rPr>
              <a:t>Requirement</a:t>
            </a:r>
            <a:endParaRPr sz="2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81967" y="7928812"/>
            <a:ext cx="527367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dirty="0">
                <a:latin typeface="Times New Roman" panose="02020603050405020304"/>
                <a:cs typeface="Times New Roman" panose="02020603050405020304"/>
              </a:rPr>
              <a:t>Mandatory</a:t>
            </a:r>
            <a:r>
              <a:rPr sz="27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spc="-10" dirty="0">
                <a:latin typeface="Times New Roman" panose="02020603050405020304"/>
                <a:cs typeface="Times New Roman" panose="02020603050405020304"/>
              </a:rPr>
              <a:t>(Symmetric/Asymmetric).</a:t>
            </a:r>
            <a:endParaRPr sz="2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224673" y="5258736"/>
            <a:ext cx="549973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dirty="0">
                <a:latin typeface="Times New Roman" panose="02020603050405020304"/>
                <a:cs typeface="Times New Roman" panose="02020603050405020304"/>
              </a:rPr>
              <a:t>Prevent detection</a:t>
            </a:r>
            <a:r>
              <a:rPr sz="27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700" spc="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dirty="0">
                <a:latin typeface="Times New Roman" panose="02020603050405020304"/>
                <a:cs typeface="Times New Roman" panose="02020603050405020304"/>
              </a:rPr>
              <a:t>message</a:t>
            </a:r>
            <a:r>
              <a:rPr sz="27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spc="-10" dirty="0">
                <a:latin typeface="Times New Roman" panose="02020603050405020304"/>
                <a:cs typeface="Times New Roman" panose="02020603050405020304"/>
              </a:rPr>
              <a:t>existence.</a:t>
            </a:r>
            <a:endParaRPr sz="2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211048" y="6170357"/>
            <a:ext cx="543687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dirty="0">
                <a:latin typeface="Cambria" panose="02040503050406030204"/>
                <a:cs typeface="Cambria" panose="02040503050406030204"/>
              </a:rPr>
              <a:t>Required</a:t>
            </a:r>
            <a:r>
              <a:rPr sz="2550" spc="-40" dirty="0">
                <a:latin typeface="Cambria" panose="02040503050406030204"/>
                <a:cs typeface="Cambria" panose="02040503050406030204"/>
              </a:rPr>
              <a:t> </a:t>
            </a:r>
            <a:r>
              <a:rPr sz="2550" spc="-25" dirty="0">
                <a:latin typeface="Cambria" panose="02040503050406030204"/>
                <a:cs typeface="Cambria" panose="02040503050406030204"/>
              </a:rPr>
              <a:t>(host</a:t>
            </a:r>
            <a:r>
              <a:rPr sz="2550" spc="35" dirty="0">
                <a:latin typeface="Cambria" panose="02040503050406030204"/>
                <a:cs typeface="Cambria" panose="02040503050406030204"/>
              </a:rPr>
              <a:t> </a:t>
            </a:r>
            <a:r>
              <a:rPr sz="2550" dirty="0">
                <a:latin typeface="Cambria" panose="02040503050406030204"/>
                <a:cs typeface="Cambria" panose="02040503050406030204"/>
              </a:rPr>
              <a:t>image,</a:t>
            </a:r>
            <a:r>
              <a:rPr sz="2550" spc="95" dirty="0">
                <a:latin typeface="Cambria" panose="02040503050406030204"/>
                <a:cs typeface="Cambria" panose="02040503050406030204"/>
              </a:rPr>
              <a:t> </a:t>
            </a:r>
            <a:r>
              <a:rPr sz="2550" dirty="0">
                <a:latin typeface="Cambria" panose="02040503050406030204"/>
                <a:cs typeface="Cambria" panose="02040503050406030204"/>
              </a:rPr>
              <a:t>audio,</a:t>
            </a:r>
            <a:r>
              <a:rPr sz="2550" spc="105" dirty="0">
                <a:latin typeface="Cambria" panose="02040503050406030204"/>
                <a:cs typeface="Cambria" panose="02040503050406030204"/>
              </a:rPr>
              <a:t> </a:t>
            </a:r>
            <a:r>
              <a:rPr sz="2550" dirty="0">
                <a:solidFill>
                  <a:srgbClr val="050505"/>
                </a:solidFill>
                <a:latin typeface="Cambria" panose="02040503050406030204"/>
                <a:cs typeface="Cambria" panose="02040503050406030204"/>
              </a:rPr>
              <a:t>or</a:t>
            </a:r>
            <a:r>
              <a:rPr sz="2550" spc="-5" dirty="0">
                <a:solidFill>
                  <a:srgbClr val="050505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550" spc="-10" dirty="0">
                <a:latin typeface="Cambria" panose="02040503050406030204"/>
                <a:cs typeface="Cambria" panose="02040503050406030204"/>
              </a:rPr>
              <a:t>video).</a:t>
            </a:r>
            <a:endParaRPr sz="255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221822" y="7049257"/>
            <a:ext cx="580199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dirty="0">
                <a:latin typeface="Times New Roman" panose="02020603050405020304"/>
                <a:cs typeface="Times New Roman" panose="02020603050405020304"/>
              </a:rPr>
              <a:t>Innocent</a:t>
            </a:r>
            <a:r>
              <a:rPr sz="2700" spc="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dirty="0">
                <a:latin typeface="Times New Roman" panose="02020603050405020304"/>
                <a:cs typeface="Times New Roman" panose="02020603050405020304"/>
              </a:rPr>
              <a:t>host</a:t>
            </a:r>
            <a:r>
              <a:rPr sz="27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dirty="0">
                <a:latin typeface="Times New Roman" panose="02020603050405020304"/>
                <a:cs typeface="Times New Roman" panose="02020603050405020304"/>
              </a:rPr>
              <a:t>asset</a:t>
            </a:r>
            <a:r>
              <a:rPr sz="27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dirty="0">
                <a:latin typeface="Times New Roman" panose="02020603050405020304"/>
                <a:cs typeface="Times New Roman" panose="02020603050405020304"/>
              </a:rPr>
              <a:t>hides</a:t>
            </a:r>
            <a:r>
              <a:rPr sz="27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spc="-10" dirty="0">
                <a:latin typeface="Times New Roman" panose="02020603050405020304"/>
                <a:cs typeface="Times New Roman" panose="02020603050405020304"/>
              </a:rPr>
              <a:t>communication.</a:t>
            </a:r>
            <a:endParaRPr sz="2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218304" y="7928812"/>
            <a:ext cx="455676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dirty="0">
                <a:latin typeface="Times New Roman" panose="02020603050405020304"/>
                <a:cs typeface="Times New Roman" panose="02020603050405020304"/>
              </a:rPr>
              <a:t>Optional</a:t>
            </a:r>
            <a:r>
              <a:rPr sz="2700" spc="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spc="-20" dirty="0">
                <a:latin typeface="Times New Roman" panose="02020603050405020304"/>
                <a:cs typeface="Times New Roman" panose="02020603050405020304"/>
              </a:rPr>
              <a:t>(Stego-</a:t>
            </a:r>
            <a:r>
              <a:rPr sz="2700" dirty="0">
                <a:latin typeface="Times New Roman" panose="02020603050405020304"/>
                <a:cs typeface="Times New Roman" panose="02020603050405020304"/>
              </a:rPr>
              <a:t>key</a:t>
            </a:r>
            <a:r>
              <a:rPr sz="2700" spc="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dirty="0">
                <a:solidFill>
                  <a:srgbClr val="0A0A0A"/>
                </a:solidFill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2700" spc="60" dirty="0">
                <a:solidFill>
                  <a:srgbClr val="0A0A0A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spc="-10" dirty="0">
                <a:latin typeface="Times New Roman" panose="02020603050405020304"/>
                <a:cs typeface="Times New Roman" panose="02020603050405020304"/>
              </a:rPr>
              <a:t>optional).</a:t>
            </a:r>
            <a:endParaRPr sz="27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0911" y="1833713"/>
            <a:ext cx="18125440" cy="0"/>
          </a:xfrm>
          <a:custGeom>
            <a:avLst/>
            <a:gdLst/>
            <a:ahLst/>
            <a:cxnLst/>
            <a:rect l="l" t="t" r="r" b="b"/>
            <a:pathLst>
              <a:path w="18125440">
                <a:moveTo>
                  <a:pt x="0" y="0"/>
                </a:moveTo>
                <a:lnTo>
                  <a:pt x="18125103" y="0"/>
                </a:lnTo>
              </a:path>
            </a:pathLst>
          </a:custGeom>
          <a:ln w="23559">
            <a:solidFill>
              <a:srgbClr val="7C030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25"/>
              </a:spcBef>
            </a:pPr>
            <a:r>
              <a:rPr spc="125" dirty="0">
                <a:solidFill>
                  <a:srgbClr val="131313"/>
                </a:solidFill>
              </a:rPr>
              <a:t>HYBRID</a:t>
            </a:r>
            <a:r>
              <a:rPr spc="560" dirty="0">
                <a:solidFill>
                  <a:srgbClr val="131313"/>
                </a:solidFill>
              </a:rPr>
              <a:t> </a:t>
            </a:r>
            <a:r>
              <a:rPr spc="185" dirty="0">
                <a:solidFill>
                  <a:srgbClr val="000E28"/>
                </a:solidFill>
              </a:rPr>
              <a:t>SECURITY</a:t>
            </a:r>
            <a:r>
              <a:rPr spc="340" dirty="0">
                <a:solidFill>
                  <a:srgbClr val="000E28"/>
                </a:solidFill>
              </a:rPr>
              <a:t> </a:t>
            </a:r>
            <a:r>
              <a:rPr spc="160" dirty="0">
                <a:solidFill>
                  <a:srgbClr val="131F3F"/>
                </a:solidFill>
              </a:rPr>
              <a:t>SYSTEMS:</a:t>
            </a:r>
            <a:r>
              <a:rPr spc="540" dirty="0">
                <a:solidFill>
                  <a:srgbClr val="131F3F"/>
                </a:solidFill>
              </a:rPr>
              <a:t> </a:t>
            </a:r>
            <a:r>
              <a:rPr spc="65" dirty="0">
                <a:solidFill>
                  <a:srgbClr val="0C1A34"/>
                </a:solidFill>
              </a:rPr>
              <a:t>DUAL</a:t>
            </a:r>
            <a:r>
              <a:rPr spc="325" dirty="0">
                <a:solidFill>
                  <a:srgbClr val="0C1A34"/>
                </a:solidFill>
              </a:rPr>
              <a:t> </a:t>
            </a:r>
            <a:r>
              <a:rPr spc="85" dirty="0">
                <a:solidFill>
                  <a:srgbClr val="0C1831"/>
                </a:solidFill>
              </a:rPr>
              <a:t>LAYER</a:t>
            </a:r>
            <a:r>
              <a:rPr spc="530" dirty="0">
                <a:solidFill>
                  <a:srgbClr val="0C1831"/>
                </a:solidFill>
              </a:rPr>
              <a:t> </a:t>
            </a:r>
            <a:r>
              <a:rPr spc="135" dirty="0">
                <a:solidFill>
                  <a:srgbClr val="051534"/>
                </a:solidFill>
              </a:rPr>
              <a:t>DEFENSE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84984" y="3433530"/>
            <a:ext cx="3336925" cy="535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50" dirty="0">
                <a:solidFill>
                  <a:srgbClr val="8E0005"/>
                </a:solidFill>
                <a:latin typeface="Times New Roman" panose="02020603050405020304"/>
                <a:cs typeface="Times New Roman" panose="02020603050405020304"/>
              </a:rPr>
              <a:t>Chaining</a:t>
            </a:r>
            <a:r>
              <a:rPr sz="3350" spc="295" dirty="0">
                <a:solidFill>
                  <a:srgbClr val="8E0005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350" spc="-10" dirty="0">
                <a:solidFill>
                  <a:srgbClr val="950307"/>
                </a:solidFill>
                <a:latin typeface="Times New Roman" panose="02020603050405020304"/>
                <a:cs typeface="Times New Roman" panose="02020603050405020304"/>
              </a:rPr>
              <a:t>Protocols</a:t>
            </a:r>
            <a:endParaRPr sz="33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9755" y="4249604"/>
            <a:ext cx="7834630" cy="1015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985">
              <a:lnSpc>
                <a:spcPct val="120000"/>
              </a:lnSpc>
              <a:spcBef>
                <a:spcPts val="100"/>
              </a:spcBef>
            </a:pPr>
            <a:r>
              <a:rPr sz="27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27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spc="-30" dirty="0">
                <a:latin typeface="Times New Roman" panose="02020603050405020304"/>
                <a:cs typeface="Times New Roman" panose="02020603050405020304"/>
              </a:rPr>
              <a:t>high-</a:t>
            </a:r>
            <a:r>
              <a:rPr sz="2700" dirty="0">
                <a:latin typeface="Times New Roman" panose="02020603050405020304"/>
                <a:cs typeface="Times New Roman" panose="02020603050405020304"/>
              </a:rPr>
              <a:t>security</a:t>
            </a:r>
            <a:r>
              <a:rPr sz="2700" spc="1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dirty="0">
                <a:latin typeface="Times New Roman" panose="02020603050405020304"/>
                <a:cs typeface="Times New Roman" panose="02020603050405020304"/>
              </a:rPr>
              <a:t>operations,</a:t>
            </a:r>
            <a:r>
              <a:rPr sz="2700" spc="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dirty="0">
                <a:latin typeface="Times New Roman" panose="02020603050405020304"/>
                <a:cs typeface="Times New Roman" panose="02020603050405020304"/>
              </a:rPr>
              <a:t>combining</a:t>
            </a:r>
            <a:r>
              <a:rPr sz="2700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dirty="0">
                <a:latin typeface="Times New Roman" panose="02020603050405020304"/>
                <a:cs typeface="Times New Roman" panose="02020603050405020304"/>
              </a:rPr>
              <a:t>both</a:t>
            </a:r>
            <a:r>
              <a:rPr sz="27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spc="-10" dirty="0">
                <a:latin typeface="Times New Roman" panose="02020603050405020304"/>
                <a:cs typeface="Times New Roman" panose="02020603050405020304"/>
              </a:rPr>
              <a:t>techniques </a:t>
            </a:r>
            <a:r>
              <a:rPr sz="2700" dirty="0">
                <a:latin typeface="Times New Roman" panose="02020603050405020304"/>
                <a:cs typeface="Times New Roman" panose="02020603050405020304"/>
              </a:rPr>
              <a:t>eliminates</a:t>
            </a:r>
            <a:r>
              <a:rPr sz="2700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dirty="0">
                <a:latin typeface="Times New Roman" panose="02020603050405020304"/>
                <a:cs typeface="Times New Roman" panose="02020603050405020304"/>
              </a:rPr>
              <a:t>isolated</a:t>
            </a:r>
            <a:r>
              <a:rPr sz="27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dirty="0">
                <a:latin typeface="Times New Roman" panose="02020603050405020304"/>
                <a:cs typeface="Times New Roman" panose="02020603050405020304"/>
              </a:rPr>
              <a:t>structural</a:t>
            </a:r>
            <a:r>
              <a:rPr sz="27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700" spc="-10" dirty="0">
                <a:latin typeface="Times New Roman" panose="02020603050405020304"/>
                <a:cs typeface="Times New Roman" panose="02020603050405020304"/>
              </a:rPr>
              <a:t>weaknesses.</a:t>
            </a:r>
            <a:endParaRPr sz="2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345" marR="522605" indent="-335280">
              <a:lnSpc>
                <a:spcPct val="122000"/>
              </a:lnSpc>
              <a:spcBef>
                <a:spcPts val="100"/>
              </a:spcBef>
              <a:buClr>
                <a:srgbClr val="0F0F0F"/>
              </a:buClr>
              <a:buChar char="•"/>
              <a:tabLst>
                <a:tab pos="348615" algn="l"/>
              </a:tabLst>
            </a:pPr>
            <a:r>
              <a:rPr spc="95" dirty="0"/>
              <a:t>First</a:t>
            </a:r>
            <a:r>
              <a:rPr spc="20" dirty="0"/>
              <a:t> </a:t>
            </a:r>
            <a:r>
              <a:rPr spc="110" dirty="0"/>
              <a:t>Layer:</a:t>
            </a:r>
            <a:r>
              <a:rPr spc="85" dirty="0"/>
              <a:t> </a:t>
            </a:r>
            <a:r>
              <a:rPr dirty="0"/>
              <a:t>Plaintext</a:t>
            </a:r>
            <a:r>
              <a:rPr spc="110" dirty="0"/>
              <a:t> </a:t>
            </a:r>
            <a:r>
              <a:rPr dirty="0">
                <a:solidFill>
                  <a:srgbClr val="1D3852"/>
                </a:solidFill>
              </a:rPr>
              <a:t>is</a:t>
            </a:r>
            <a:r>
              <a:rPr spc="-65" dirty="0">
                <a:solidFill>
                  <a:srgbClr val="1D3852"/>
                </a:solidFill>
              </a:rPr>
              <a:t> </a:t>
            </a:r>
            <a:r>
              <a:rPr dirty="0">
                <a:solidFill>
                  <a:srgbClr val="050505"/>
                </a:solidFill>
              </a:rPr>
              <a:t>first</a:t>
            </a:r>
            <a:r>
              <a:rPr spc="45" dirty="0">
                <a:solidFill>
                  <a:srgbClr val="050505"/>
                </a:solidFill>
              </a:rPr>
              <a:t> </a:t>
            </a:r>
            <a:r>
              <a:rPr dirty="0"/>
              <a:t>encrypted</a:t>
            </a:r>
            <a:r>
              <a:rPr spc="180" dirty="0"/>
              <a:t> </a:t>
            </a:r>
            <a:r>
              <a:rPr dirty="0"/>
              <a:t>using</a:t>
            </a:r>
            <a:r>
              <a:rPr spc="80" dirty="0"/>
              <a:t> </a:t>
            </a:r>
            <a:r>
              <a:rPr spc="-10" dirty="0"/>
              <a:t>modern 	</a:t>
            </a:r>
            <a:r>
              <a:rPr dirty="0"/>
              <a:t>algorithms</a:t>
            </a:r>
            <a:r>
              <a:rPr spc="65" dirty="0"/>
              <a:t> </a:t>
            </a:r>
            <a:r>
              <a:rPr spc="-20" dirty="0"/>
              <a:t>(AES-</a:t>
            </a:r>
            <a:r>
              <a:rPr dirty="0"/>
              <a:t>256)</a:t>
            </a:r>
            <a:r>
              <a:rPr spc="125" dirty="0"/>
              <a:t> </a:t>
            </a:r>
            <a:r>
              <a:rPr dirty="0"/>
              <a:t>to</a:t>
            </a:r>
            <a:r>
              <a:rPr spc="-65" dirty="0"/>
              <a:t> </a:t>
            </a:r>
            <a:r>
              <a:rPr dirty="0"/>
              <a:t>secure</a:t>
            </a:r>
            <a:r>
              <a:rPr spc="125" dirty="0"/>
              <a:t> </a:t>
            </a:r>
            <a:r>
              <a:rPr spc="-10" dirty="0"/>
              <a:t>meaning.</a:t>
            </a:r>
          </a:p>
          <a:p>
            <a:pPr marL="338455" marR="5080" indent="-326390">
              <a:lnSpc>
                <a:spcPct val="122000"/>
              </a:lnSpc>
              <a:spcBef>
                <a:spcPts val="1485"/>
              </a:spcBef>
              <a:buClr>
                <a:srgbClr val="111111"/>
              </a:buClr>
              <a:buChar char="•"/>
              <a:tabLst>
                <a:tab pos="342900" algn="l"/>
              </a:tabLst>
            </a:pPr>
            <a:r>
              <a:rPr dirty="0"/>
              <a:t>Second</a:t>
            </a:r>
            <a:r>
              <a:rPr spc="95" dirty="0"/>
              <a:t> </a:t>
            </a:r>
            <a:r>
              <a:rPr spc="110" dirty="0"/>
              <a:t>Layer:</a:t>
            </a:r>
            <a:r>
              <a:rPr spc="-15" dirty="0"/>
              <a:t> </a:t>
            </a:r>
            <a:r>
              <a:rPr dirty="0"/>
              <a:t>The</a:t>
            </a:r>
            <a:r>
              <a:rPr spc="90" dirty="0"/>
              <a:t> </a:t>
            </a:r>
            <a:r>
              <a:rPr dirty="0"/>
              <a:t>resulting</a:t>
            </a:r>
            <a:r>
              <a:rPr spc="190" dirty="0"/>
              <a:t> </a:t>
            </a:r>
            <a:r>
              <a:rPr dirty="0"/>
              <a:t>ciphertext</a:t>
            </a:r>
            <a:r>
              <a:rPr spc="210" dirty="0"/>
              <a:t> </a:t>
            </a:r>
            <a:r>
              <a:rPr dirty="0"/>
              <a:t>is</a:t>
            </a:r>
            <a:r>
              <a:rPr spc="-10" dirty="0"/>
              <a:t> </a:t>
            </a:r>
            <a:r>
              <a:rPr dirty="0"/>
              <a:t>then</a:t>
            </a:r>
            <a:r>
              <a:rPr spc="85" dirty="0"/>
              <a:t> </a:t>
            </a:r>
            <a:r>
              <a:rPr spc="-20" dirty="0"/>
              <a:t>embedded 	</a:t>
            </a:r>
            <a:r>
              <a:rPr dirty="0"/>
              <a:t>inside</a:t>
            </a:r>
            <a:r>
              <a:rPr spc="45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dirty="0"/>
              <a:t>cover</a:t>
            </a:r>
            <a:r>
              <a:rPr spc="70" dirty="0"/>
              <a:t> </a:t>
            </a:r>
            <a:r>
              <a:rPr dirty="0"/>
              <a:t>carrier</a:t>
            </a:r>
            <a:r>
              <a:rPr spc="80" dirty="0"/>
              <a:t> </a:t>
            </a:r>
            <a:r>
              <a:rPr dirty="0">
                <a:solidFill>
                  <a:srgbClr val="080808"/>
                </a:solidFill>
              </a:rPr>
              <a:t>(image</a:t>
            </a:r>
            <a:r>
              <a:rPr spc="40" dirty="0">
                <a:solidFill>
                  <a:srgbClr val="080808"/>
                </a:solidFill>
              </a:rPr>
              <a:t> </a:t>
            </a:r>
            <a:r>
              <a:rPr dirty="0"/>
              <a:t>or</a:t>
            </a:r>
            <a:r>
              <a:rPr spc="10" dirty="0"/>
              <a:t> </a:t>
            </a:r>
            <a:r>
              <a:rPr spc="-10" dirty="0"/>
              <a:t>audio).</a:t>
            </a:r>
          </a:p>
          <a:p>
            <a:pPr marL="348615" marR="665480" indent="-336550">
              <a:lnSpc>
                <a:spcPct val="120000"/>
              </a:lnSpc>
              <a:spcBef>
                <a:spcPts val="1610"/>
              </a:spcBef>
              <a:buClr>
                <a:srgbClr val="0F0F0F"/>
              </a:buClr>
              <a:buChar char="•"/>
              <a:tabLst>
                <a:tab pos="348615" algn="l"/>
              </a:tabLst>
            </a:pPr>
            <a:r>
              <a:rPr spc="75" dirty="0"/>
              <a:t>Outcome: </a:t>
            </a:r>
            <a:r>
              <a:rPr dirty="0">
                <a:solidFill>
                  <a:srgbClr val="080808"/>
                </a:solidFill>
              </a:rPr>
              <a:t>If</a:t>
            </a:r>
            <a:r>
              <a:rPr spc="210" dirty="0">
                <a:solidFill>
                  <a:srgbClr val="080808"/>
                </a:solidFill>
              </a:rPr>
              <a:t> </a:t>
            </a:r>
            <a:r>
              <a:rPr dirty="0"/>
              <a:t>the</a:t>
            </a:r>
            <a:r>
              <a:rPr spc="5" dirty="0"/>
              <a:t> </a:t>
            </a:r>
            <a:r>
              <a:rPr dirty="0"/>
              <a:t>steganography</a:t>
            </a:r>
            <a:r>
              <a:rPr spc="100" dirty="0"/>
              <a:t> </a:t>
            </a:r>
            <a:r>
              <a:rPr dirty="0">
                <a:solidFill>
                  <a:srgbClr val="050505"/>
                </a:solidFill>
              </a:rPr>
              <a:t>layer</a:t>
            </a:r>
            <a:r>
              <a:rPr spc="5" dirty="0">
                <a:solidFill>
                  <a:srgbClr val="050505"/>
                </a:solidFill>
              </a:rPr>
              <a:t> </a:t>
            </a:r>
            <a:r>
              <a:rPr dirty="0"/>
              <a:t>is</a:t>
            </a:r>
            <a:r>
              <a:rPr spc="-60" dirty="0"/>
              <a:t> </a:t>
            </a:r>
            <a:r>
              <a:rPr dirty="0"/>
              <a:t>detected,</a:t>
            </a:r>
            <a:r>
              <a:rPr spc="85" dirty="0"/>
              <a:t> </a:t>
            </a:r>
            <a:r>
              <a:rPr spc="-25" dirty="0"/>
              <a:t>the </a:t>
            </a:r>
            <a:r>
              <a:rPr dirty="0">
                <a:solidFill>
                  <a:srgbClr val="050505"/>
                </a:solidFill>
              </a:rPr>
              <a:t>adversary</a:t>
            </a:r>
            <a:r>
              <a:rPr spc="100" dirty="0">
                <a:solidFill>
                  <a:srgbClr val="050505"/>
                </a:solidFill>
              </a:rPr>
              <a:t> </a:t>
            </a:r>
            <a:r>
              <a:rPr dirty="0">
                <a:solidFill>
                  <a:srgbClr val="181818"/>
                </a:solidFill>
              </a:rPr>
              <a:t>still</a:t>
            </a:r>
            <a:r>
              <a:rPr spc="75" dirty="0">
                <a:solidFill>
                  <a:srgbClr val="181818"/>
                </a:solidFill>
              </a:rPr>
              <a:t> </a:t>
            </a:r>
            <a:r>
              <a:rPr dirty="0"/>
              <a:t>faces</a:t>
            </a:r>
            <a:r>
              <a:rPr spc="60" dirty="0"/>
              <a:t> </a:t>
            </a:r>
            <a:r>
              <a:rPr dirty="0"/>
              <a:t>mathematically</a:t>
            </a:r>
            <a:r>
              <a:rPr spc="-145" dirty="0"/>
              <a:t> </a:t>
            </a:r>
            <a:r>
              <a:rPr dirty="0"/>
              <a:t>solid</a:t>
            </a:r>
            <a:r>
              <a:rPr spc="114" dirty="0"/>
              <a:t> </a:t>
            </a:r>
            <a:r>
              <a:rPr spc="-20" dirty="0"/>
              <a:t>encryption.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390</Words>
  <Application>Microsoft Office PowerPoint</Application>
  <PresentationFormat>Custom</PresentationFormat>
  <Paragraphs>71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 MT</vt:lpstr>
      <vt:lpstr>Cambria</vt:lpstr>
      <vt:lpstr>Times New Roman</vt:lpstr>
      <vt:lpstr>Office Theme</vt:lpstr>
      <vt:lpstr>STEGANOGRAPHY VS CRYPTOGRAPHY</vt:lpstr>
      <vt:lpstr>FUNDAMENTAL PARADIGMS OF SECURITY</vt:lpstr>
      <vt:lpstr>CRYPTOGRAPHIC ARCHITECTURE  &amp; FLOW</vt:lpstr>
      <vt:lpstr>PowerPoint Presentation</vt:lpstr>
      <vt:lpstr>STE GANO GRAPHY VS CRYPTOGRAPHY COMPARISON</vt:lpstr>
      <vt:lpstr>HYBRID SECURITY SYSTEMS: DUAL LAYER DEFENSE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STEGANOGRAPHY VS CRYPTOGRAPHY</dc:title>
  <dc:creator>ARSHAD</dc:creator>
  <cp:lastModifiedBy>User</cp:lastModifiedBy>
  <cp:revision>2</cp:revision>
  <dcterms:created xsi:type="dcterms:W3CDTF">2026-07-14T15:09:04Z</dcterms:created>
  <dcterms:modified xsi:type="dcterms:W3CDTF">2026-07-14T15:12:26Z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2026-07-14T05:30:00Z</vt:filetime>
  </property>
  <property fmtid="{D5CDD505-2E9C-101B-9397-08002B2CF9AE}" pid="4" name="LastSaved">
    <vt:filetime>2026-07-14T05:30:00Z</vt:filetime>
  </property>
  <property fmtid="{D5CDD505-2E9C-101B-9397-08002B2CF9AE}" pid="5" name="ICV">
    <vt:lpwstr>6A99333CEFA845ED8B7E35627FA1E72D_13</vt:lpwstr>
  </property>
  <property fmtid="{D5CDD505-2E9C-101B-9397-08002B2CF9AE}" pid="6" name="KSOProductBuildVer">
    <vt:lpwstr>1033-12.1.0.26880</vt:lpwstr>
  </property>
</Properties>
</file>